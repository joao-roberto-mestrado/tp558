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4" r:id="rId20"/>
    <p:sldId id="275" r:id="rId21"/>
    <p:sldId id="276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512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distorções</c:v>
                </c:pt>
              </c:strCache>
            </c:strRef>
          </c:tx>
          <c:spPr>
            <a:solidFill>
              <a:srgbClr val="1E64B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30k</c:v>
                </c:pt>
                <c:pt idx="1">
                  <c:v>90k</c:v>
                </c:pt>
                <c:pt idx="2">
                  <c:v>150k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90.61</c:v>
                </c:pt>
                <c:pt idx="1">
                  <c:v>91.54</c:v>
                </c:pt>
                <c:pt idx="2">
                  <c:v>91.63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FD-45BF-8074-8DD60B3731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Distorções afins ×8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30k</c:v>
                </c:pt>
                <c:pt idx="1">
                  <c:v>90k</c:v>
                </c:pt>
                <c:pt idx="2">
                  <c:v>150k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91.9</c:v>
                </c:pt>
                <c:pt idx="1">
                  <c:v>93.15</c:v>
                </c:pt>
                <c:pt idx="2">
                  <c:v>93.42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FD-45BF-8074-8DD60B3731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8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pt-BR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pt-B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spPr>
            <a:solidFill>
              <a:srgbClr val="1E64B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Humanos</c:v>
                </c:pt>
                <c:pt idx="1">
                  <c:v>HBPL</c:v>
                </c:pt>
                <c:pt idx="2">
                  <c:v>Siamese Conv.</c:v>
                </c:pt>
                <c:pt idx="3">
                  <c:v>Modelo afim</c:v>
                </c:pt>
                <c:pt idx="4">
                  <c:v>Hierarchical Deep</c:v>
                </c:pt>
                <c:pt idx="5">
                  <c:v>DBM</c:v>
                </c:pt>
                <c:pt idx="6">
                  <c:v>Siamese FC</c:v>
                </c:pt>
                <c:pt idx="7">
                  <c:v>Simple Stroke</c:v>
                </c:pt>
                <c:pt idx="8">
                  <c:v>1-NN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95.5</c:v>
                </c:pt>
                <c:pt idx="1">
                  <c:v>95.2</c:v>
                </c:pt>
                <c:pt idx="2">
                  <c:v>92</c:v>
                </c:pt>
                <c:pt idx="3">
                  <c:v>81.8</c:v>
                </c:pt>
                <c:pt idx="4">
                  <c:v>65.2</c:v>
                </c:pt>
                <c:pt idx="5">
                  <c:v>62</c:v>
                </c:pt>
                <c:pt idx="6">
                  <c:v>58.3</c:v>
                </c:pt>
                <c:pt idx="7">
                  <c:v>35.200000000000003</c:v>
                </c:pt>
                <c:pt idx="8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47-477A-B1DC-BA91FD1A3A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pt-BR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spPr>
            <a:solidFill>
              <a:srgbClr val="3E83C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Aleatório</c:v>
                </c:pt>
                <c:pt idx="1">
                  <c:v>One-shot</c:v>
                </c:pt>
                <c:pt idx="2">
                  <c:v>Verificação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81.099999999999994</c:v>
                </c:pt>
                <c:pt idx="2">
                  <c:v>90.1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C0-480A-9D04-FFDBF77D75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8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0:20
Roteiro do apresentador:
Apresente o título e situe rapidamente que o artigo propõe aprender uma função de similaridade com redes siamesas para realizar classificação one-shot. Não entre em detalhes nesta abertura.
[Sources]
- Koch, G.; Zemel, R.; Salakhutdinov, R. (2015). Siamese Neural Networks for One-shot Image Recognition.
- TP558_X_Template(2).pptx - identidade visual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Contextualize o problema: modelos profundos costumam depender de muitos exemplos, enquanto humanos frequentemente reconhecem novos padrões com poucas observações. O artigo pergunta se podemos aprender uma representação que continue útil quando novas classes aparecem com apenas um exemplo.
[Sources]
- Artigo_4_Seminario.pdf, p. 1, resumo e introdução.
- Artigo_4_Seminario.pdf, Fig. 1, p.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Defina one-shot learning com precisão e diferencie de zero-shot. Em seguida, deixe claro que o artigo não aprende um classificador fixo para todas as classes futuras. Ele aprende uma função de similaridade capaz de comparar uma imagem de consulta com exemplos de novas classes.
[Sources]
- Artigo_4_Seminario.pdf, p. 1, parágrafos sobre one-shot e zero-shot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Apresente esta lâmina como o contrato do artigo. Objetivo: aprender uma representação útil para comparação. Hipótese: bom desempenho em verificação deve transferir para one-shot. Contribuição: mostrar que uma rede convolucional siamesa pode competir com métodos mais específicos do domínio.
[Sources]
- Artigo_4_Seminario.pdf, p. 2, seção 1 - Approach.
- Artigo_4_Seminario.pdf, p. 6, Tabela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1:45
Roteiro do apresentador:
Explique por que pesos compartilhados são importantes: as duas imagens devem passar exatamente pela mesma transformação. O vetor de diferenças absolutas é então ponderado e convertido em uma probabilidade. Isso transforma reconhecimento em uma tarefa de comparação.
[Sources]
- Artigo_4_Seminario.pdf, p. 3, seção 3 - Deep Siamese Networks for Image Verification.
- Artigo_4_Seminario.pdf, Fig. 3, p.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Este é o salto conceitual do artigo. Durante o treinamento, a rede só precisa resolver verificação binária. No teste, a mesma rede é usada C vezes para comparar a consulta com um exemplo de cada nova classe. A classe do par com maior pontuação é escolhida.
[Sources]
- Artigo_4_Seminario.pdf, Fig. 2, p. 2.
- Artigo_4_Seminario.pdf, p. 2, seção 1 -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1:15
Roteiro do apresentador:
Não aprofunde cada artigo. A mensagem é que havia duas linhas relevantes: métodos probabilísticos/generativos específicos para poucos exemplos e redes siamesas para verificação. Koch et al. combinam a ideia de redes siamesas com uma arquitetura convolucional e testam diretamente em one-shot.
[Sources]
- Artigo_4_Seminario.pdf, p. 2, seção 2 - Related Work.
- Artigo_4_Seminario.pdf, p. 3, início da seção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Mostre que o desenho experimental separa claramente aprendizado e avaliação. O ponto importante para one-shot é que as classes de avaliação não são as mesmas classes vistas durante o ajuste do modelo. Isso testa a capacidade de transferir a métrica aprendida.
[Sources]
- Artigo_4_Seminario.pdf, p. 5, seção 4.1 - The Omniglot Dataset.
- Artigo_4_Seminario.pdf, Fig. 6, p.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2:00
Roteiro do apresentador:
Passe pela arquitetura apenas no nível necessário: convoluções aprendem características locais, a camada de 4096 unidades forma a representação e a comparação é feita pela distância L1 ponderada. Destaque que os pesos das duas torres são compartilhados; a figura mostra apenas uma delas para simplificar.
[Sources]
- Artigo_4_Seminario.pdf, Fig. 4 e seção 3.1, pp.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2:00
Roteiro do apresentador:
Explique a função de perda e a lógica de otimização sem se prender às equações. O aluno deve entender que os rótulos são binários: mesmo caractere ou caractere diferente. Mostre também que as distorções afins são uma forma de aumentar o conjunto de treinamento e reduzir overfitting.
[Sources]
- Artigo_4_Seminario.pdf, pp. 4-5, seção 3.2 - Learning.
- Artigo_4_Seminario.pdf, Fig. 5, p.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Explique o protocolo com cuidado porque ele é essencial para interpretar 92%. O modelo compara uma consulta contra 20 exemplos de suporte e escolhe o maior score. O artigo repete esse processo 400 vezes. Em 20-way, uma escolha aleatória acertaria apenas 5%.
[Sources]
- Artigo_4_Seminario.pdf, p. 6, seção 4.3 - One-shot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Leia o gráfico e não apenas os números. A augmentation melhora consistentemente a verificação. O aumento de 90 mil para 150 mil pares traz ganho pequeno, sugerindo retorno decrescente naquele intervalo. O melhor valor é 93,42% com 150 mil pares e distorções.
[Sources]
- Artigo_4_Seminario.pdf, Tabela 1, p.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2:00
Roteiro do apresentador:
Este é o resultado central do seminário. A rede siamesa convolucional chega a 92%, muito acima das baselines e próxima do HBPL e dos humanos. O HBPL ainda é superior, mas incorpora estrutura específica do domínio, enquanto a rede siamesa aprende diretamente a partir das imagens.
[Sources]
- Artigo_4_Seminario.pdf, Tabela 2 e discussão, p.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1:15
Roteiro do apresentador:
Mostre que os autores também testam transferência entre datasets. O desempenho cai em relação ao Omniglot, mas 70,3% sem qualquer fine-tuning ainda é muito superior ao 1-NN de 26,5%. Isso sustenta a ideia de que a rede aprendeu características transferíveis.
[Sources]
- Artigo_4_Seminario.pdf, p. 7, seção 4.4 e Tabela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2:00
Roteiro do apresentador:
Apresente apenas os resultados do notebook e a lógica do experimento, como pede o roteiro da disciplina. Não discuta código. Explique a limitação de forma explícita: é uma reprodução didática do mecanismo, não dos números do artigo. O valor aqui é mostrar que você implementou pesos compartilhados, pares de verificação e decisão por similaridade.
[Sources]
- Reproducao_Siamese_Digits.ipynb - execução realizada com seed fixa (42).
- TP558 - Seminários(3).pdf, p. 2-3: reprodução parcial gera pontos extras e não se deve focar em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Apresente apenas estes quatro trechos. Primeiro, mostre que o treinamento é feito com pares positivos e negativos, não com uma saída de 10 classes. Depois, destaque que self.embedding é chamado duas vezes, mas é o mesmo objeto: isso implementa os pesos compartilhados. Em seguida, explique que a distância L1 entre h1 e h2 alimenta a camada de similaridade e que BCEWithLogitsLoss ensina a distinguir pares iguais e diferentes. Por fim, na inferência one-shot, a imagem de consulta é comparada com um único suporte por classe, a sigmoid gera os scores e o argmax escolhe a maior similaridade. Reforce: nessa fase não existe retreinamento.
[Sources]
- Reproducao_Siamese_Digits.ipynb, seções 2 a 5: geração de pares, SiameseNet.forward, treinamento e inferência 10-way one-shot.
- TP558 - Seminários(3).pdf, p. 3: mostrar apenas partes do código importantes para explicar conceitos/resultados.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2:00
Roteiro do apresentador:
Aqui é onde você demonstra domínio, não apenas leitura. Separe claramente o que os autores mostraram do que é sua avaliação crítica. Destaque que o método é elegante por ser geral, mas o salto para outros domínios não é comprovado de forma ampla no artigo. O teste MNIST ajuda, mas já mostra queda importante.
[Sources]
- Artigo_4_Seminario.pdf, pp. 6-7, resultados e conclusões.
- Análise crítica elaborada a partir dos experimentos e limitações descritos no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do apresentador:
Feche a parte técnica em três mensagens. Primeiro, métrica em vez de classes fixas. Segundo, verificação como tarefa de treinamento. Terceiro, resultado competitivo e transferência parcial. Termine citando a direção futura dos autores sobre distorções locais baseadas nos traços.
[Sources]
- Artigo_4_Seminario.pdf, p. 7, seção 5 -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0:20 + perguntas
Roteiro do apresentador:
Abra para perguntas. Se ninguém perguntar imediatamente, use a pergunta de discussão mostrada no slide para iniciar a conversa.
[Sources]
- TP558 - Seminários(3).pdf, p. 2: abertura para perguntas e discussões.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0:20
Roteiro do apresentador:
Não leia as referências. Apenas indique que o artigo original e os principais trabalhos relacionados estão listados e que o notebook prático acompanha o seminário.
[Sources]
- Artigo_4_Seminario.pdf, pp. 7-8, referências bibliográficas.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0:10
Roteiro do apresentador:
Agradeça e encerre.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0:30
Roteiro do apresentador:
Não use o tempo dos 30 minutos para aplicar o quiz. Apenas mostre o link e diga que a turma pode responder após a aula, conforme as regras. Antes da entrega, substitua o placeholder pelo URL real do Google Forms.
[Sources]
- TP558 - Seminários(3).pdf, p. 1: quiz obrigatório, 5 a 10 questões, Google Forms e link ao final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r/tbsifDyNVH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029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TP558 - Tópicos avançados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 Machine Learning: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Siamesas para Reconhecimento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Imagens com One-Shot Learning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63240" y="23317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Koch, Zemel &amp; Salakhutdinov - ICML 2015</a:t>
            </a:r>
            <a:endParaRPr lang="en-US" sz="1300" dirty="0"/>
          </a:p>
        </p:txBody>
      </p:sp>
      <p:pic>
        <p:nvPicPr>
          <p:cNvPr id="5" name="Image 0" descr="/mnt/data/seminario_work/template_unzip/ppt/media/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30903"/>
            <a:ext cx="3108960" cy="2339193"/>
          </a:xfrm>
          <a:prstGeom prst="rect">
            <a:avLst/>
          </a:prstGeom>
        </p:spPr>
      </p:pic>
      <p:pic>
        <p:nvPicPr>
          <p:cNvPr id="6" name="Image 1" descr="/mnt/data/seminario_work/template_unzip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89" y="5897880"/>
            <a:ext cx="839823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5779008"/>
            <a:ext cx="2880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Roberto Teixeira dos Santos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joao.santos@mtel.inatel.br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que one-shot learning importa?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</a:rPr>
              <a:t>Aprendizado supervisionado tradicional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1965960" cy="1463040"/>
          </a:xfrm>
          <a:prstGeom prst="roundRect">
            <a:avLst>
              <a:gd name="adj" fmla="val 3125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92808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4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Muitos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368296"/>
            <a:ext cx="17465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por classe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746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convencional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783080"/>
            <a:ext cx="1965960" cy="1463040"/>
          </a:xfrm>
          <a:prstGeom prst="roundRect">
            <a:avLst>
              <a:gd name="adj" fmla="val 3125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8728" y="1892808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18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2368296"/>
            <a:ext cx="17465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da nova classe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38728" y="2926080"/>
            <a:ext cx="1746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one-shot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64B7"/>
                </a:solidFill>
              </a:rPr>
              <a:t>Pergunta central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3232" y="4069080"/>
            <a:ext cx="4937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Como reconhecer uma classe inédita quando há apenas um exemplo disponível?</a:t>
            </a:r>
            <a:endParaRPr lang="en-US" sz="2500" dirty="0"/>
          </a:p>
        </p:txBody>
      </p:sp>
      <p:pic>
        <p:nvPicPr>
          <p:cNvPr id="17" name="Image 0" descr="/mnt/data/artigo4_figs/page1_img1_xre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70" y="1353312"/>
            <a:ext cx="4338701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10FA88F-C043-471F-81A9-C1EDFA21FB57}"/>
              </a:ext>
            </a:extLst>
          </p:cNvPr>
          <p:cNvSpPr/>
          <p:nvPr/>
        </p:nvSpPr>
        <p:spPr>
          <a:xfrm>
            <a:off x="2819758" y="2126300"/>
            <a:ext cx="3200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1E64B7"/>
                </a:solidFill>
              </a:rPr>
              <a:t>≠</a:t>
            </a:r>
            <a:endParaRPr lang="pt-BR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problema estudado: classificação one-shot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190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7592" y="1517904"/>
            <a:ext cx="16642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Receber 1 exemplo de cada classe candidata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27832" y="1700784"/>
            <a:ext cx="228600" cy="256032"/>
          </a:xfrm>
          <a:prstGeom prst="chevron">
            <a:avLst/>
          </a:prstGeom>
          <a:solidFill>
            <a:srgbClr val="C8D3DF"/>
          </a:solidFill>
          <a:ln w="12700">
            <a:solidFill>
              <a:srgbClr val="C8D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600200"/>
            <a:ext cx="502920" cy="502920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190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96512" y="1517904"/>
            <a:ext cx="16642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Receber uma imagem de consulta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16752" y="1700784"/>
            <a:ext cx="228600" cy="256032"/>
          </a:xfrm>
          <a:prstGeom prst="chevron">
            <a:avLst/>
          </a:prstGeom>
          <a:solidFill>
            <a:srgbClr val="C8D3DF"/>
          </a:solidFill>
          <a:ln w="12700">
            <a:solidFill>
              <a:srgbClr val="C8D3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190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85432" y="1517904"/>
            <a:ext cx="16642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Comparar a consulta com cada exemplo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05672" y="1700784"/>
            <a:ext cx="228600" cy="256032"/>
          </a:xfrm>
          <a:prstGeom prst="chevron">
            <a:avLst/>
          </a:prstGeom>
          <a:solidFill>
            <a:srgbClr val="C8D3DF"/>
          </a:solidFill>
          <a:ln w="12700">
            <a:solidFill>
              <a:srgbClr val="C8D3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600200"/>
            <a:ext cx="502920" cy="50292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7190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74352" y="1517904"/>
            <a:ext cx="16642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Escolher a classe com maior similaridade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2880360"/>
            <a:ext cx="9829800" cy="24231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182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64B7"/>
                </a:solidFill>
              </a:rPr>
              <a:t>One-shot learning ≠ zero-shot learning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63040" y="3675888"/>
            <a:ext cx="4343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One-shot: há 1 exemplo de cada classe-alvo.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Zero-shot: não há exemplos das classes-alvo.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080760" y="3310128"/>
            <a:ext cx="42976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1F1F"/>
                </a:solidFill>
              </a:rPr>
              <a:t>No artigo, a ideia é aprender a comparar imagens durante o treinamento e reutilizar essa capacidade em classes novas, sem retreinamento.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DO ARTIGO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Objetivo, hipótese e contribuições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291840" cy="40690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291840" cy="109728"/>
          </a:xfrm>
          <a:prstGeom prst="rect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64B7"/>
                </a:solidFill>
              </a:rPr>
              <a:t>Objetivo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2331720"/>
            <a:ext cx="27432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Aprender representações de imagem por uma rede siamesa supervisionada e reutilizá-las em classificação one-shot sem retreinamento.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291840" cy="40690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63040"/>
            <a:ext cx="3291840" cy="10972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185B"/>
                </a:solidFill>
              </a:rPr>
              <a:t>Hipótese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0872" y="2331720"/>
            <a:ext cx="27432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Uma rede que aprende bem a tarefa de verificação (mesma classe / classe diferente) deve generalizar para classificação one-shot.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291840" cy="40690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463040"/>
            <a:ext cx="3291840" cy="109728"/>
          </a:xfrm>
          <a:prstGeom prst="rect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8D40"/>
                </a:solidFill>
              </a:rPr>
              <a:t>Contribuição principal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192" y="2331720"/>
            <a:ext cx="27432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Uma arquitetura convolucional siamesa que aprende uma métrica discriminativa e alcança 92,0% no protocolo one-shot do Omniglot.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03120" y="58064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Ideia-chave: aprender a similaridade, não memorizar as classes futuras.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Rede siamesa: duas entradas, os mesmos pesos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pic>
        <p:nvPicPr>
          <p:cNvPr id="5" name="Image 0" descr="/mnt/data/artigo4_figs/page3_img1_xref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54236"/>
            <a:ext cx="5532120" cy="42238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1463040"/>
            <a:ext cx="466344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imagens são processadas por redes com parâmetros compartilhados.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compartilhamento força imagens semelhantes a serem tratadas pela mesma função de extração de características.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representações finais são comparadas por uma distância L1 ponderada.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saída sigmoidal produz a pontuação de similaridade.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37960" y="5701937"/>
            <a:ext cx="4617720" cy="77724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97980" y="5953397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sigmoid( Σ αj · |h1j - h2j| 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0" name="Rounded Rectangle 25">
            <a:extLst>
              <a:ext uri="{FF2B5EF4-FFF2-40B4-BE49-F238E27FC236}">
                <a16:creationId xmlns:a16="http://schemas.microsoft.com/office/drawing/2014/main" id="{7EC6526C-AE81-4737-A52D-02092CA1D1D0}"/>
              </a:ext>
            </a:extLst>
          </p:cNvPr>
          <p:cNvSpPr/>
          <p:nvPr/>
        </p:nvSpPr>
        <p:spPr>
          <a:xfrm>
            <a:off x="6492240" y="3920934"/>
            <a:ext cx="4663440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C8DB42D6-2EE6-4EF1-B32D-9CE773BB69CF}"/>
              </a:ext>
            </a:extLst>
          </p:cNvPr>
          <p:cNvSpPr txBox="1"/>
          <p:nvPr/>
        </p:nvSpPr>
        <p:spPr>
          <a:xfrm>
            <a:off x="6656832" y="4056430"/>
            <a:ext cx="433425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2165B2"/>
                </a:solidFill>
                <a:latin typeface="Calibri"/>
              </a:rPr>
              <a:t>FLUXO MATEMÁTICO</a:t>
            </a: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B863A88A-5C74-4148-96FF-19159A3B1FD8}"/>
              </a:ext>
            </a:extLst>
          </p:cNvPr>
          <p:cNvSpPr txBox="1"/>
          <p:nvPr/>
        </p:nvSpPr>
        <p:spPr>
          <a:xfrm>
            <a:off x="6702552" y="4302252"/>
            <a:ext cx="4334255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232323"/>
                </a:solidFill>
                <a:latin typeface="Cambria Math"/>
              </a:rPr>
              <a:t>x₁, x₂  →  </a:t>
            </a:r>
            <a:r>
              <a:rPr sz="1450" dirty="0" err="1">
                <a:solidFill>
                  <a:srgbClr val="232323"/>
                </a:solidFill>
                <a:latin typeface="Cambria Math"/>
              </a:rPr>
              <a:t>fθ</a:t>
            </a:r>
            <a:r>
              <a:rPr sz="1450" dirty="0">
                <a:solidFill>
                  <a:srgbClr val="232323"/>
                </a:solidFill>
                <a:latin typeface="Cambria Math"/>
              </a:rPr>
              <a:t>(x₁), </a:t>
            </a:r>
            <a:r>
              <a:rPr sz="1450" dirty="0" err="1">
                <a:solidFill>
                  <a:srgbClr val="232323"/>
                </a:solidFill>
                <a:latin typeface="Cambria Math"/>
              </a:rPr>
              <a:t>fθ</a:t>
            </a:r>
            <a:r>
              <a:rPr sz="1450" dirty="0">
                <a:solidFill>
                  <a:srgbClr val="232323"/>
                </a:solidFill>
                <a:latin typeface="Cambria Math"/>
              </a:rPr>
              <a:t>(x₂)  →  h₁, h₂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232323"/>
                </a:solidFill>
                <a:latin typeface="Cambria Math"/>
              </a:rPr>
              <a:t>h₁, h₂  →  |h₁ − h₂|  →  Σⱼ αⱼ|h₁ⱼ − h₂ⱼ|  →  σ(·)  →  p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46595C33-9026-4758-9699-7878B03D6632}"/>
              </a:ext>
            </a:extLst>
          </p:cNvPr>
          <p:cNvSpPr txBox="1"/>
          <p:nvPr/>
        </p:nvSpPr>
        <p:spPr>
          <a:xfrm>
            <a:off x="6775704" y="5097393"/>
            <a:ext cx="426110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dirty="0" err="1">
                <a:solidFill>
                  <a:srgbClr val="5F5F5F"/>
                </a:solidFill>
                <a:latin typeface="Calibri"/>
              </a:rPr>
              <a:t>fθ</a:t>
            </a:r>
            <a:r>
              <a:rPr sz="950" dirty="0">
                <a:solidFill>
                  <a:srgbClr val="5F5F5F"/>
                </a:solidFill>
                <a:latin typeface="Calibri"/>
              </a:rPr>
              <a:t>: CNN </a:t>
            </a:r>
            <a:r>
              <a:rPr sz="950" dirty="0" err="1">
                <a:solidFill>
                  <a:srgbClr val="5F5F5F"/>
                </a:solidFill>
                <a:latin typeface="Calibri"/>
              </a:rPr>
              <a:t>compartilhada</a:t>
            </a:r>
            <a:r>
              <a:rPr sz="950" dirty="0">
                <a:solidFill>
                  <a:srgbClr val="5F5F5F"/>
                </a:solidFill>
                <a:latin typeface="Calibri"/>
              </a:rPr>
              <a:t>   |   </a:t>
            </a:r>
            <a:r>
              <a:rPr sz="950" dirty="0" err="1">
                <a:solidFill>
                  <a:srgbClr val="5F5F5F"/>
                </a:solidFill>
                <a:latin typeface="Calibri"/>
              </a:rPr>
              <a:t>h₁,h</a:t>
            </a:r>
            <a:r>
              <a:rPr sz="950" dirty="0">
                <a:solidFill>
                  <a:srgbClr val="5F5F5F"/>
                </a:solidFill>
                <a:latin typeface="Calibri"/>
              </a:rPr>
              <a:t>₂: embeddings   |   αⱼ: pesos </a:t>
            </a:r>
            <a:r>
              <a:rPr sz="950" dirty="0" err="1">
                <a:solidFill>
                  <a:srgbClr val="5F5F5F"/>
                </a:solidFill>
                <a:latin typeface="Calibri"/>
              </a:rPr>
              <a:t>aprendidos</a:t>
            </a:r>
            <a:r>
              <a:rPr sz="950" dirty="0">
                <a:solidFill>
                  <a:srgbClr val="5F5F5F"/>
                </a:solidFill>
                <a:latin typeface="Calibri"/>
              </a:rPr>
              <a:t>   |   p: </a:t>
            </a:r>
            <a:r>
              <a:rPr sz="950" dirty="0" err="1">
                <a:solidFill>
                  <a:srgbClr val="5F5F5F"/>
                </a:solidFill>
                <a:latin typeface="Calibri"/>
              </a:rPr>
              <a:t>similaridade</a:t>
            </a:r>
            <a:endParaRPr sz="950" dirty="0">
              <a:solidFill>
                <a:srgbClr val="5F5F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 verificação à classificação one-shot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pic>
        <p:nvPicPr>
          <p:cNvPr id="5" name="Image 0" descr="/mnt/data/artigo4_figs/page2_img1_xref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5948"/>
            <a:ext cx="5120640" cy="37289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44752"/>
            <a:ext cx="507492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19088" y="1673352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4808" y="17373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TREINAMENTO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55280" y="1664208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</a:rPr>
              <a:t>Pares de imagens → mesma classe ou classe diferente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55280" y="2258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Aprende a função de similaridade.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366760" y="3063240"/>
            <a:ext cx="594360" cy="502920"/>
          </a:xfrm>
          <a:prstGeom prst="downArrow">
            <a:avLst/>
          </a:prstGeom>
          <a:solidFill>
            <a:srgbClr val="B7C6D7"/>
          </a:solidFill>
          <a:ln w="12700">
            <a:solidFill>
              <a:srgbClr val="B7C6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3767328"/>
            <a:ext cx="5074920" cy="150876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E3CF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19088" y="402336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40873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TESTE ONE-SHOT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75320" y="3968496"/>
            <a:ext cx="2697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Consulta + 1 exemplo de cada nova classe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10528" y="46451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66666"/>
                </a:solidFill>
              </a:rPr>
              <a:t>Escolhe a classe com maior similaridade - sem retreinamento.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Trabalhos relacionados: de modelos específicos à métrica aprendida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331720"/>
            <a:ext cx="8549640" cy="0"/>
          </a:xfrm>
          <a:prstGeom prst="line">
            <a:avLst/>
          </a:prstGeom>
          <a:noFill/>
          <a:ln w="25400">
            <a:solidFill>
              <a:srgbClr val="AFC1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176272"/>
            <a:ext cx="292608" cy="29260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2003-06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</a:rPr>
              <a:t>Fei-Fei et 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" y="3337560"/>
            <a:ext cx="2194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Abordagens Bayesianas para aproveitar classes previamente aprendidas.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67912" y="2176272"/>
            <a:ext cx="292608" cy="29260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2011-13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</a:rPr>
              <a:t>Lake et al. - HBPL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2194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Modelagem generativa da estrutura e dos traços dos caracteres.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56832" y="2176272"/>
            <a:ext cx="292608" cy="29260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1993-2005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</a:rPr>
              <a:t>Bromley / LeCun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3337560"/>
            <a:ext cx="2194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Redes siamesas e aprendizado discriminativo de métricas de similaridade.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45752" y="2176272"/>
            <a:ext cx="292608" cy="29260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85B"/>
                </a:solidFill>
              </a:rPr>
              <a:t>2015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</a:rPr>
              <a:t>Koch et al.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337560"/>
            <a:ext cx="2194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Rede convolucional siamesa aplicada diretamente ao one-shot.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5166360"/>
            <a:ext cx="9875520" cy="7315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367528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1F1F"/>
                </a:solidFill>
              </a:rPr>
              <a:t>Diferença do artigo: evita conhecimento explícito do domínio (ex.: modelo de traços) e aprende a representação diretamente a partir de pares de imagens.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Omniglot: o cenário experimental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pic>
        <p:nvPicPr>
          <p:cNvPr id="5" name="Image 0" descr="/mnt/data/artigo4_figs/page5_img2_xref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7405"/>
            <a:ext cx="5440680" cy="15659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1732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56248" y="152704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4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556248" y="2002536"/>
            <a:ext cx="17922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32520" y="141732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42248" y="152704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83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842248" y="2002536"/>
            <a:ext cx="17922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desenhistas por caractere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46520" y="306324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56248" y="31729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C8D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105×105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56248" y="3648456"/>
            <a:ext cx="17922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binária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732520" y="306324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42248" y="31729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18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 / 10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842248" y="3648456"/>
            <a:ext cx="17922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evaluation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42248" y="4069080"/>
            <a:ext cx="1792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usado no artigo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46520" y="4754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</a:rPr>
              <a:t>Separação essencial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6520" y="5166360"/>
            <a:ext cx="438912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</a:rPr>
              <a:t>O conjunto de background é usado para aprender hiperparâmetros e características; o conjunto de evaluation é reservado para medir o desempenho one-shot.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 convolucional usada no melhor modelo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pic>
        <p:nvPicPr>
          <p:cNvPr id="5" name="Image 0" descr="/mnt/data/artigo4_figs/page4_img1_xref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5128"/>
            <a:ext cx="10927080" cy="22475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4617720"/>
            <a:ext cx="196596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7823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Entrada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093208"/>
            <a:ext cx="17830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F1F"/>
                </a:solidFill>
              </a:rPr>
              <a:t>Imagem 105×105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71800" y="4617720"/>
            <a:ext cx="196596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3240" y="47823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Extração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63240" y="5093208"/>
            <a:ext cx="17830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F1F"/>
                </a:solidFill>
              </a:rPr>
              <a:t>4 blocos convolucionais + ReLU / max-pooling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12080" y="4617720"/>
            <a:ext cx="196596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47823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Representação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5093208"/>
            <a:ext cx="17830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F1F"/>
                </a:solidFill>
              </a:rPr>
              <a:t>Camada totalmente conectada de 4096 unidades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52360" y="4617720"/>
            <a:ext cx="196596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47823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4B7"/>
                </a:solidFill>
              </a:rPr>
              <a:t>Comparação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3800" y="5093208"/>
            <a:ext cx="17830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F1F"/>
                </a:solidFill>
              </a:rPr>
              <a:t>Distância L1 por componente + pesos αj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692640" y="4617720"/>
            <a:ext cx="1965960" cy="1051560"/>
          </a:xfrm>
          <a:prstGeom prst="roundRect">
            <a:avLst/>
          </a:prstGeom>
          <a:solidFill>
            <a:srgbClr val="FFF5F9"/>
          </a:solidFill>
          <a:ln w="12700">
            <a:solidFill>
              <a:srgbClr val="E4BF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0" y="47823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185B"/>
                </a:solidFill>
              </a:rPr>
              <a:t>Saída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784080" y="5093208"/>
            <a:ext cx="17830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F1F"/>
                </a:solidFill>
              </a:rPr>
              <a:t>Sigmoid: probabilidade de mesma classe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Como o modelo é treinado?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87452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4B7"/>
                </a:solidFill>
              </a:rPr>
              <a:t>Pares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</a:rPr>
              <a:t>mesma / diferente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87752" y="1810512"/>
            <a:ext cx="256032" cy="256032"/>
          </a:xfrm>
          <a:prstGeom prst="chevron">
            <a:avLst/>
          </a:prstGeom>
          <a:solidFill>
            <a:srgbClr val="C1CEDA"/>
          </a:solidFill>
          <a:ln w="12700">
            <a:solidFill>
              <a:srgbClr val="C1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3512" y="1417320"/>
            <a:ext cx="187452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4B7"/>
                </a:solidFill>
              </a:rPr>
              <a:t>Rede siamesa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1938528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</a:rPr>
              <a:t>pesos compartilhados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55464" y="1810512"/>
            <a:ext cx="256032" cy="256032"/>
          </a:xfrm>
          <a:prstGeom prst="chevron">
            <a:avLst/>
          </a:prstGeom>
          <a:solidFill>
            <a:srgbClr val="C1CEDA"/>
          </a:solidFill>
          <a:ln w="12700">
            <a:solidFill>
              <a:srgbClr val="C1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21224" y="1417320"/>
            <a:ext cx="1874520" cy="1051560"/>
          </a:xfrm>
          <a:prstGeom prst="roundRect">
            <a:avLst/>
          </a:prstGeom>
          <a:solidFill>
            <a:srgbClr val="FFF5F9"/>
          </a:solidFill>
          <a:ln w="12700">
            <a:solidFill>
              <a:srgbClr val="E4B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185B"/>
                </a:solidFill>
              </a:rPr>
              <a:t>Similaridade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1938528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</a:rPr>
              <a:t>L1 ponderada + sigmoid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23176" y="1810512"/>
            <a:ext cx="256032" cy="256032"/>
          </a:xfrm>
          <a:prstGeom prst="chevron">
            <a:avLst/>
          </a:prstGeom>
          <a:solidFill>
            <a:srgbClr val="C1CEDA"/>
          </a:solidFill>
          <a:ln w="12700">
            <a:solidFill>
              <a:srgbClr val="C1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8936" y="1417320"/>
            <a:ext cx="187452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4B7"/>
                </a:solidFill>
              </a:rPr>
              <a:t>Perda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98664" y="1938528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</a:rPr>
              <a:t>entropia cruzada + L2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90888" y="1810512"/>
            <a:ext cx="256032" cy="256032"/>
          </a:xfrm>
          <a:prstGeom prst="chevron">
            <a:avLst/>
          </a:prstGeom>
          <a:solidFill>
            <a:srgbClr val="C1CEDA"/>
          </a:solidFill>
          <a:ln w="12700">
            <a:solidFill>
              <a:srgbClr val="C1C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56648" y="1417320"/>
            <a:ext cx="1874520" cy="10515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6376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4B7"/>
                </a:solidFill>
              </a:rPr>
              <a:t>Otimização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66376" y="1938528"/>
            <a:ext cx="164592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</a:rPr>
              <a:t>backpropagation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2926079"/>
            <a:ext cx="5212080" cy="2165845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</a:rPr>
              <a:t>Estratégia de treinamento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657600"/>
            <a:ext cx="45262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 = 128 pares.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200 épocas, com early stopping pela validação one-shot.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 reduzida 1% por época.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 escolhidos por otimização Bayesiana (Whetlab).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309359" y="2926079"/>
            <a:ext cx="4924879" cy="2165841"/>
          </a:xfrm>
          <a:prstGeom prst="roundRect">
            <a:avLst/>
          </a:prstGeom>
          <a:solidFill>
            <a:srgbClr val="FFF9F2"/>
          </a:solidFill>
          <a:ln w="12700">
            <a:solidFill>
              <a:srgbClr val="E9D5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A19"/>
                </a:solidFill>
              </a:rPr>
              <a:t>Data augmentation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3703320"/>
            <a:ext cx="4206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1F1F"/>
                </a:solidFill>
              </a:rPr>
              <a:t>Pequenas distorções afins (rotação, escala, cisalhamento e translação) geram variações adicionais de cada par e melhoram a robustez do modelo.</a:t>
            </a:r>
            <a:endParaRPr lang="en-US" sz="1550" dirty="0"/>
          </a:p>
        </p:txBody>
      </p:sp>
      <p:pic>
        <p:nvPicPr>
          <p:cNvPr id="30" name="Image 0" descr="/mnt/data/artigo4_figs/page5_img1_xref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015" y="5209513"/>
            <a:ext cx="4786049" cy="1483884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Protocolo de avaliação 20-way one-shot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1F1F"/>
                </a:solidFill>
              </a:rPr>
              <a:t>Cada episódio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202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819656"/>
            <a:ext cx="43434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Seleciona 1 alfabeto do conjunto de avaliação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791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578608"/>
            <a:ext cx="43434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Escolhe 20 caracteres aleatórios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346704"/>
            <a:ext cx="384048" cy="38404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43814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43434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Dois desenhistas produzem os 20 caracteres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105656"/>
            <a:ext cx="384048" cy="384048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9709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4096512"/>
            <a:ext cx="43434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Cada consulta é comparada com os 20 suportes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86460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95604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855464"/>
            <a:ext cx="43434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Maior similaridade define a classe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4617720" cy="41605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783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64B7"/>
                </a:solidFill>
              </a:rPr>
              <a:t>400 episódios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75120" y="2423160"/>
            <a:ext cx="38862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1F1F"/>
                </a:solidFill>
              </a:rPr>
              <a:t>40 testes por alfabeto × 10 alfabetos de avaliação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03720" y="3246120"/>
            <a:ext cx="3383280" cy="0"/>
          </a:xfrm>
          <a:prstGeom prst="line">
            <a:avLst/>
          </a:prstGeom>
          <a:noFill/>
          <a:ln w="12700">
            <a:solidFill>
              <a:srgbClr val="C8D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6666"/>
                </a:solidFill>
              </a:rPr>
              <a:t>Predição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09560" y="3547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C* = argmaxc p(c)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12280" y="4343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185B"/>
                </a:solidFill>
              </a:rPr>
              <a:t>A chance aleatória em uma tarefa 20-way é 5%.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 de verificação: augmentation ajuda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</a:rPr>
              <a:t>Acurácia na tarefa de verificação do Omniglot (%)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664208"/>
          <a:ext cx="6126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554480"/>
            <a:ext cx="3886200" cy="13716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5236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66666"/>
                </a:solidFill>
              </a:rPr>
              <a:t>Melhor verificação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5236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C2185B"/>
                </a:solidFill>
              </a:rPr>
              <a:t>93,42%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7223760" y="3246120"/>
            <a:ext cx="3886200" cy="2011680"/>
          </a:xfrm>
          <a:prstGeom prst="roundRect">
            <a:avLst/>
          </a:prstGeom>
          <a:solidFill>
            <a:srgbClr val="FFF9F2"/>
          </a:solidFill>
          <a:ln w="12700">
            <a:solidFill>
              <a:srgbClr val="E9D5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9792" y="3493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A19"/>
                </a:solidFill>
              </a:rPr>
              <a:t>Leitura do resultado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79792" y="3977640"/>
            <a:ext cx="3246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1F1F"/>
                </a:solidFill>
              </a:rPr>
              <a:t>Aumentar o número de pares ajuda, mas o ganho adicional entre 90k e 150k é pequeno. As distorções afins fornecem um ganho consistente em todos os tamanhos de treino.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 principal: 92,0% no Omniglot one-shot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58368" y="1325880"/>
          <a:ext cx="6766560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41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27848" y="1527048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18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92,0%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927848" y="2002536"/>
            <a:ext cx="30266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siamesa convolucional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27848" y="2514600"/>
            <a:ext cx="3026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20-way one-shot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18120" y="31546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27848" y="3264408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C8D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95,2%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27848" y="3739896"/>
            <a:ext cx="30266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HBPL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27848" y="4251960"/>
            <a:ext cx="3026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 comparado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818120" y="4983480"/>
            <a:ext cx="3246120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5184648"/>
            <a:ext cx="2788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1F1F"/>
                </a:solidFill>
              </a:rPr>
              <a:t>Vantagem: o modelo siamesa não usa conhecimento explícito de traços ou do processo de desenho.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Generalização para MNIST sem fine-tuning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703320" cy="4251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64B7"/>
                </a:solidFill>
              </a:rPr>
              <a:t>Experimento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315468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treinado no Omniglot.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dígitos do MNIST são tratados como um novo “alfabeto”.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tarefas 10-way one-shot.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fine-tuning no conjunto de treinamento MNIST.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74920" y="196596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84648" y="20756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18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70,3%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184648" y="2551176"/>
            <a:ext cx="2203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Conv.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84648" y="347472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10-way one-shot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75320" y="196596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85048" y="207568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4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26,5%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85048" y="2551176"/>
            <a:ext cx="2203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1-NN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5048" y="3474720"/>
            <a:ext cx="2203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2587752"/>
            <a:ext cx="365760" cy="320040"/>
          </a:xfrm>
          <a:prstGeom prst="chevron">
            <a:avLst/>
          </a:prstGeom>
          <a:solidFill>
            <a:srgbClr val="BEC9D4"/>
          </a:solidFill>
          <a:ln w="12700">
            <a:solidFill>
              <a:srgbClr val="BEC9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4572000"/>
            <a:ext cx="5440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 relevante: as características aprendidas no Omniglot ainda carregam informação útil para um domínio visual diferente.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 err="1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Reprodução</a:t>
            </a: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700" dirty="0" err="1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prática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07111"/>
            <a:ext cx="4572000" cy="284377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0886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64B7"/>
                </a:solidFill>
              </a:rPr>
              <a:t>Experimento didático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4128" y="2811783"/>
            <a:ext cx="388620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sklearn Digits (8×8).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convolucional siamesa com pesos compartilhados.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com pares mesma/</a:t>
            </a:r>
            <a:r>
              <a:rPr lang="en-US" sz="15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L1 + camada de similaridade.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10-way one-shot em 1000 episódios.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897880" y="1600200"/>
            <a:ext cx="2331720" cy="1508760"/>
          </a:xfrm>
          <a:prstGeom prst="roundRect">
            <a:avLst>
              <a:gd name="adj" fmla="val 3030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07608" y="1709928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4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90,1%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07608" y="2185416"/>
            <a:ext cx="21122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07608" y="2788920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pares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49640" y="1600200"/>
            <a:ext cx="2331720" cy="1508760"/>
          </a:xfrm>
          <a:prstGeom prst="roundRect">
            <a:avLst>
              <a:gd name="adj" fmla="val 3030"/>
            </a:avLst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59368" y="1709928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18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81,1%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59368" y="2185416"/>
            <a:ext cx="211226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10-way one-shot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59368" y="2788920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episódios</a:t>
            </a:r>
            <a:endParaRPr lang="en-US" sz="9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897880" y="3474720"/>
          <a:ext cx="4983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989320" y="5715000"/>
            <a:ext cx="48006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6666"/>
                </a:solidFill>
              </a:rPr>
              <a:t>Limite da reprodução: as classes 0–9 já aparecem no treinamento; portanto, este notebook demonstra a inferência por similaridade, mas não replica o split de classes inéditas do artigo.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 PRÁTICA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Código do notebook: como a rede aprende similaridade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61872"/>
            <a:ext cx="5440680" cy="21762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426464"/>
            <a:ext cx="347472" cy="347472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8972" y="152247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1417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b="1" dirty="0">
                <a:solidFill>
                  <a:srgbClr val="1E64B7"/>
                </a:solidFill>
              </a:rPr>
              <a:t>Geração dos pares</a:t>
            </a:r>
            <a:endParaRPr lang="en-US" sz="1630" dirty="0"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498348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D"/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i % 2 == 0:  # par positivo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 = int(local_rng.choice(classes))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a, b = local_rng.choice(by_class[c], 2, replace=False)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label = 1.0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else:           # par negativo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c1, c2 = local_rng.choice(classes, 2, replace=False)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label = 0.0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96112" y="2926080"/>
            <a:ext cx="49286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não recebe o rótulo do dígito como alvo. Ela aprende uma tarefa binária: 1 para imagens da mesma classe e 0 para classes diferentes. Isso transforma classificação em verificação.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63640" y="1261872"/>
            <a:ext cx="5303520" cy="21762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426464"/>
            <a:ext cx="347472" cy="34747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2532" y="152247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22008" y="141732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b="1" dirty="0">
                <a:solidFill>
                  <a:srgbClr val="C2185B"/>
                </a:solidFill>
              </a:rPr>
              <a:t>Forward da rede siamesa</a:t>
            </a:r>
            <a:endParaRPr lang="en-US" sz="1630" dirty="0"/>
          </a:p>
        </p:txBody>
      </p:sp>
      <p:sp>
        <p:nvSpPr>
          <p:cNvPr id="15" name="Text 13"/>
          <p:cNvSpPr/>
          <p:nvPr/>
        </p:nvSpPr>
        <p:spPr>
          <a:xfrm>
            <a:off x="6492240" y="1847088"/>
            <a:ext cx="484632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h1 = self.embedding(x1)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h2 = self.embedding(x2)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l1 = torch.abs(h1 - h2)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 self.similarity(l1).squeeze(1)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519672" y="2926080"/>
            <a:ext cx="479145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e x2 passam pelo MESMO self.embedding: os pesos são compartilhados. Depois, |h1-h2| mede a diferença entre embeddings e a camada similarity produz um logit de similaridade.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3675888"/>
            <a:ext cx="544068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840480"/>
            <a:ext cx="347472" cy="347472"/>
          </a:xfrm>
          <a:prstGeom prst="ellipse">
            <a:avLst/>
          </a:prstGeom>
          <a:solidFill>
            <a:srgbClr val="D97A19"/>
          </a:solidFill>
          <a:ln w="12700">
            <a:solidFill>
              <a:srgbClr val="D97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" y="393649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98448" y="38313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b="1" dirty="0">
                <a:solidFill>
                  <a:srgbClr val="D97A19"/>
                </a:solidFill>
              </a:rPr>
              <a:t>Treinamento</a:t>
            </a:r>
            <a:endParaRPr lang="en-US" sz="1630" dirty="0"/>
          </a:p>
        </p:txBody>
      </p:sp>
      <p:sp>
        <p:nvSpPr>
          <p:cNvPr id="21" name="Text 19"/>
          <p:cNvSpPr/>
          <p:nvPr/>
        </p:nvSpPr>
        <p:spPr>
          <a:xfrm>
            <a:off x="868680" y="4261104"/>
            <a:ext cx="498348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logits = model(a, b)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loss = criterion(logits, target)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loss.backward()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optimizer.step()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96112" y="5340096"/>
            <a:ext cx="492861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 compara o logit com o alvo 0/1. O backpropagation calcula os gradientes e o Adam atualiza os pesos compartilhados do extrator de características.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263640" y="3675888"/>
            <a:ext cx="530352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3840480"/>
            <a:ext cx="347472" cy="347472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2532" y="393649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22008" y="38313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b="1" dirty="0">
                <a:solidFill>
                  <a:srgbClr val="3C8D40"/>
                </a:solidFill>
              </a:rPr>
              <a:t>Decisão 10-way one-shot</a:t>
            </a:r>
            <a:endParaRPr lang="en-US" sz="1630" dirty="0"/>
          </a:p>
        </p:txBody>
      </p:sp>
      <p:sp>
        <p:nvSpPr>
          <p:cNvPr id="27" name="Text 25"/>
          <p:cNvSpPr/>
          <p:nvPr/>
        </p:nvSpPr>
        <p:spPr>
          <a:xfrm>
            <a:off x="6492240" y="4261104"/>
            <a:ext cx="484632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 = torch.sigmoid(model(query, support)).item()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scores.append(score)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4314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pred_class = classes[int(np.argmax(scores))]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519672" y="5340096"/>
            <a:ext cx="4791456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é comparada com um único exemplo de suporte de cada classe. A sigmoid converte o logit em score e o argmax escolhe a classe mais semelhante. Não há retreinamento no episódio.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1965960" y="5989320"/>
            <a:ext cx="8229600" cy="39319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608990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Fluxo do código: criar pares → aprender embedding → medir |h1−h2| → escolher maior similaridade.</a:t>
            </a:r>
            <a:endParaRPr lang="en-US" sz="14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Análise crítica do trabalho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212080" cy="1965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1848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8D40"/>
                </a:solidFill>
              </a:rPr>
              <a:t>Pontos fortes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75688"/>
            <a:ext cx="46634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genérica: não depende de regras específicas de caracteres.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com pares e reaproveita a métrica sem retreinamento.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de 92% próximo ao melhor método comparado.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4937760" cy="1965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61848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3A48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075688"/>
            <a:ext cx="4389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treinamento foram ajustados ao Omniglot.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cai ao transferir para MNIST.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one-shot é restrita a reconhecimento de caracteres.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212080" cy="1965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995928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4B7"/>
                </a:solidFill>
              </a:rPr>
              <a:t>Possíveis melhorias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453128"/>
            <a:ext cx="46634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perdas contrastivas/triplet e amostragem de pares mais informativa.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múltiplos domínios e tarefas few-shot.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métodos meta-learning modernos.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3794760"/>
            <a:ext cx="4937760" cy="1965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99592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A19"/>
                </a:solidFill>
              </a:rPr>
              <a:t>Aplicações práticas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453128"/>
            <a:ext cx="4389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Biometria/verificação de identidade.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visual com poucas amostras de defeitos.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similaridade e reconhecimento de novas categorias.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que aprendemos com o artigo?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94360" cy="594360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7276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399032"/>
            <a:ext cx="89611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1F1F"/>
                </a:solidFill>
              </a:rPr>
              <a:t>Aprender a comparar pode ser mais útil do que aprender um classificador fixo.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896112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</a:rPr>
              <a:t>A rede aprende uma métrica de similaridade reutilizável em novas classes.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1E64B7"/>
          </a:solidFill>
          <a:ln w="12700">
            <a:solidFill>
              <a:srgbClr val="1E64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94436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770632"/>
            <a:ext cx="89611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1F1F"/>
                </a:solidFill>
              </a:rPr>
              <a:t>Verificação é usada como tarefa intermediária para one-shot learning.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37360" y="3291840"/>
            <a:ext cx="896112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</a:rPr>
              <a:t>Pares mesma/</a:t>
            </a:r>
            <a:r>
              <a:rPr lang="en-US" sz="1450" dirty="0" err="1">
                <a:solidFill>
                  <a:srgbClr val="666666"/>
                </a:solidFill>
              </a:rPr>
              <a:t>diferentes</a:t>
            </a:r>
            <a:r>
              <a:rPr lang="en-US" sz="1450" dirty="0">
                <a:solidFill>
                  <a:srgbClr val="666666"/>
                </a:solidFill>
              </a:rPr>
              <a:t> classes permitem treinar a representação com técnicas supervisionadas comuns.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594360" cy="59436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1596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4142232"/>
            <a:ext cx="89611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1F1F"/>
                </a:solidFill>
              </a:rPr>
              <a:t>A abordagem é competitiva sem conhecimento explícito do domínio.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663440"/>
            <a:ext cx="896112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6666"/>
                </a:solidFill>
              </a:rPr>
              <a:t>92,0% no Omniglot e 70,3% em MNIST sem fine-tuning.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057400" y="5623560"/>
            <a:ext cx="8046720" cy="5029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5751576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</a:rPr>
              <a:t>Direção futura indicada pelos autores: explorar deformações baseadas nas trajetórias dos traços, além das transformações afins globais.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4231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Perguntas?</a:t>
            </a:r>
            <a:endParaRPr lang="en-US" sz="4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Referências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561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1. KOCH, G.; ZEMEL, R.; SALAKHUTDINOV, R. Siamese Neural Networks for One-shot Image Recognition. ICML Deep Learning Workshop, 2015.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10561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2. BROMLEY, J. et al. Signature Verification using a Siamese Time Delay Neural Network. IJPRAI, 1993.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10561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3. CHOPRA, S.; HADSELL, R.; LECUN, Y. Learning a Similarity Metric Discriminatively, with Application to Face Verification. CVPR, 2005.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75304"/>
            <a:ext cx="10561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4. FEI-FEI, L.; FERGUS, R.; PERONA, P. One-shot learning of object categories. IEEE TPAMI, 2006.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4325112"/>
            <a:ext cx="10561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5. LAKE, B. M.; SALAKHUTDINOV, R.; TENENBAUM, J. B. One-shot learning by inverting a compositional causal process. NeurIPS, 2013.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10561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6. Dataset Omniglot e referências adicionais conforme o artigo original.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4B7"/>
                </a:solidFill>
              </a:rPr>
              <a:t>Material prático: Reproducao_Siamese_Digits.ipynb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4231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Obrigado!</a:t>
            </a:r>
            <a:endParaRPr lang="en-US" sz="4200" dirty="0"/>
          </a:p>
        </p:txBody>
      </p:sp>
      <p:pic>
        <p:nvPicPr>
          <p:cNvPr id="3" name="Image 0" descr="/mnt/data/seminario_work/template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806" y="3886200"/>
            <a:ext cx="1033628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4892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TP558 - Tópicos avançados em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E6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TURMA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Quiz final - Google Forms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846320" cy="43434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3199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185B"/>
                </a:solidFill>
              </a:rPr>
              <a:t>LINK DO QUIZ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3566161"/>
            <a:ext cx="4480560" cy="515388"/>
          </a:xfrm>
          <a:prstGeom prst="roundRect">
            <a:avLst/>
          </a:prstGeom>
          <a:solidFill>
            <a:srgbClr val="FFF5F9"/>
          </a:solidFill>
          <a:ln w="15240">
            <a:solidFill>
              <a:srgbClr val="E4BFD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48403F8-DA3A-41E0-A4FF-C84694789766}"/>
              </a:ext>
            </a:extLst>
          </p:cNvPr>
          <p:cNvSpPr/>
          <p:nvPr/>
        </p:nvSpPr>
        <p:spPr>
          <a:xfrm>
            <a:off x="6492240" y="3639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185B"/>
                </a:solidFill>
              </a:rPr>
              <a:t> </a:t>
            </a:r>
            <a:r>
              <a:rPr lang="en-US" sz="1700" b="1" dirty="0">
                <a:solidFill>
                  <a:srgbClr val="C2185B"/>
                </a:solidFill>
                <a:hlinkClick r:id="rId3"/>
              </a:rPr>
              <a:t>https://forms.cloud.microsoft/r/tbsifDyNVH</a:t>
            </a:r>
            <a:endParaRPr lang="en-US" sz="17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B417907-6619-4276-AA56-D021A6CF5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360" y="1687484"/>
            <a:ext cx="3753196" cy="37531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</TotalTime>
  <Words>3863</Words>
  <Application>Microsoft Office PowerPoint</Application>
  <PresentationFormat>Widescreen</PresentationFormat>
  <Paragraphs>326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DejaVu Sans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Inatel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Neurais Siamesas para Reconhecimento de Imagens com One-Shot Learning</dc:title>
  <dc:subject>TP558 - Seminario sobre Siamese Neural Networks for One-shot Image Recognition</dc:subject>
  <dc:creator>OpenAI</dc:creator>
  <cp:lastModifiedBy>João Roberto Teixeira dos Santos</cp:lastModifiedBy>
  <cp:revision>13</cp:revision>
  <dcterms:created xsi:type="dcterms:W3CDTF">2026-09-14T18:06:26Z</dcterms:created>
  <dcterms:modified xsi:type="dcterms:W3CDTF">2026-09-18T16:39:38Z</dcterms:modified>
</cp:coreProperties>
</file>