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51" autoAdjust="0"/>
  </p:normalViewPr>
  <p:slideViewPr>
    <p:cSldViewPr snapToGrid="0" snapToObjects="1">
      <p:cViewPr>
        <p:scale>
          <a:sx n="81" d="100"/>
          <a:sy n="81" d="100"/>
        </p:scale>
        <p:origin x="8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269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Abra situando o artigo: publicado na Nature em 2015, ele mostra como combinar Q-learning e redes neurais convolucionais para aprender diretamente de pixels. Diga que a apresentação vai focar em: problema, mecanismo do DQN, evidências experimentais e uma reprodução parcial dos resultados.
[Sources]
- Mnih, V. et al. Human-level control through deep reinforcement learning. Nature 518, 529-533 (2015).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914400"/>
            <a:ext cx="11045952" cy="0"/>
          </a:xfrm>
          <a:prstGeom prst="line">
            <a:avLst/>
          </a:prstGeom>
          <a:noFill/>
          <a:ln w="12700">
            <a:solidFill>
              <a:srgbClr val="D9E1F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ResponsePage.aspx?id=USyefs-fLk-nmwl-UqQkzUyY0qIxJGlMnBH3YP-fAcxUNkJUNlQ4UU03MkE1Tzg3TDNQTldMRUZTUi4u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50292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TP558 - Tópicos avançados em Machine Learning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417320" y="1097280"/>
            <a:ext cx="932688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900" b="1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Human-level control through</a:t>
            </a:r>
            <a:endParaRPr lang="en-US" sz="2900" dirty="0"/>
          </a:p>
          <a:p>
            <a:pPr marL="0" indent="0" algn="ctr">
              <a:buNone/>
            </a:pPr>
            <a:r>
              <a:rPr lang="en-US" sz="2900" b="1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828800" y="222199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em nível humano por aprendizagem por reforço profundo</a:t>
            </a:r>
            <a:endParaRPr lang="en-US" sz="1550" dirty="0"/>
          </a:p>
        </p:txBody>
      </p:sp>
      <p:pic>
        <p:nvPicPr>
          <p:cNvPr id="5" name="Image 0" descr="/mnt/data/seminario_dqn_work/assets/template_robo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481" y="2761488"/>
            <a:ext cx="3220558" cy="2423160"/>
          </a:xfrm>
          <a:prstGeom prst="rect">
            <a:avLst/>
          </a:prstGeom>
        </p:spPr>
      </p:pic>
      <p:pic>
        <p:nvPicPr>
          <p:cNvPr id="7" name="Image 1" descr="/mnt/data/seminario_dqn_work/assets/inate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615" y="5596128"/>
            <a:ext cx="1227434" cy="868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32520" y="5669280"/>
            <a:ext cx="256032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Roberto Teixeira dos Santos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joao.Santos@mtel.inate.br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Abertura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ensinar um agente a agir bem vendo apenas pixels?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3429000" cy="233172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
</a:t>
            </a: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DQN, muitos agentes de RL dependiam de atributos projetados à mão ou de estados de baixa dimensão.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370832" y="1847088"/>
            <a:ext cx="3429000" cy="2331720"/>
          </a:xfrm>
          <a:prstGeom prst="rect">
            <a:avLst/>
          </a:prstGeom>
          <a:solidFill>
            <a:srgbClr val="FFF4E5"/>
          </a:solidFill>
          <a:ln w="12700">
            <a:solidFill>
              <a:srgbClr val="F4B183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65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
</a:t>
            </a: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com uma rede neural não linear pode oscilar ou divergir: os dados são correlacionados e o próprio alvo muda durante o treinamento.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065008" y="1847088"/>
            <a:ext cx="3429000" cy="2331720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
</a:t>
            </a: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uma política end-to-end a partir de imagens, usando uma única receita de arquitetura e hiperparâmetros em tarefas muito diferentes.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78107" y="4532586"/>
            <a:ext cx="4435786" cy="1765738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Atari 2600 como laboratório: 49 </a:t>
            </a:r>
            <a:r>
              <a:rPr lang="en-US" sz="17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jogos</a:t>
            </a: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Entrada visual </a:t>
            </a:r>
          </a:p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7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</a:t>
            </a: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discretas</a:t>
            </a: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7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</a:t>
            </a: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ao longo do tempo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Introdução do artigo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34747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
</a:t>
            </a: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agente capaz de aprender políticas de controle diretamente de entradas sensoriais de alta dimensão, sem engenharia manual de atributos.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361688" y="1170432"/>
            <a:ext cx="3474720" cy="3383280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
</a:t>
            </a: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 convolucional profunda pode aproximar Q(s,a), desde que o treinamento seja estabilizado com experience replay e uma target network separada.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37576" y="1170432"/>
            <a:ext cx="34747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Contribuições
</a:t>
            </a:r>
            <a:r>
              <a:rPr lang="en-US" sz="15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 Q-Network (DQN) end-to-end</a:t>
            </a:r>
            <a:endParaRPr lang="en-US" sz="2000" dirty="0"/>
          </a:p>
          <a:p>
            <a:pPr marL="0" indent="0">
              <a:buNone/>
            </a:pPr>
            <a:r>
              <a:rPr lang="en-US" sz="15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Mesma arquitetura/hiperparâmetros em 49 jogos</a:t>
            </a:r>
            <a:endParaRPr lang="en-US" sz="2000" dirty="0"/>
          </a:p>
          <a:p>
            <a:pPr marL="0" indent="0">
              <a:buNone/>
            </a:pPr>
            <a:r>
              <a:rPr lang="en-US" sz="15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Comparação com humanos e métodos anteriores</a:t>
            </a:r>
            <a:endParaRPr lang="en-US" sz="2000" dirty="0"/>
          </a:p>
          <a:p>
            <a:r>
              <a:rPr lang="en-US" sz="15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pt-BR" sz="1600" dirty="0"/>
              <a:t>Análise</a:t>
            </a:r>
            <a:r>
              <a:rPr lang="en-US" sz="15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dos componentes centrais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4892040"/>
            <a:ext cx="10332720" cy="658368"/>
          </a:xfrm>
          <a:prstGeom prst="rect">
            <a:avLst/>
          </a:prstGeom>
          <a:solidFill>
            <a:srgbClr val="EAF8FC"/>
          </a:solidFill>
          <a:ln>
            <a:solidFill>
              <a:srgbClr val="B7DEE8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Ponto-chave: “uma única arquitetura” não significa um único modelo multitarefa — uma rede separada foi treinada para cada jogo.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Fundamentação teórica: aprendizado por reforço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2240280" cy="256032"/>
          </a:xfrm>
          <a:prstGeom prst="rect">
            <a:avLst/>
          </a:prstGeom>
          <a:solidFill>
            <a:srgbClr val="EAF8FC"/>
          </a:solidFill>
          <a:ln>
            <a:solidFill>
              <a:srgbClr val="EAF8FC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20574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Estado/observação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2971800"/>
            <a:ext cx="20574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rₜ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251960" y="1234440"/>
            <a:ext cx="2240280" cy="256032"/>
          </a:xfrm>
          <a:prstGeom prst="rect">
            <a:avLst/>
          </a:prstGeom>
          <a:solidFill>
            <a:srgbClr val="EAF3FB"/>
          </a:solidFill>
          <a:ln>
            <a:solidFill>
              <a:srgbClr val="EAF3F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97680" y="2148840"/>
            <a:ext cx="2148840" cy="1325880"/>
          </a:xfrm>
          <a:prstGeom prst="rect">
            <a:avLst/>
          </a:prstGeom>
          <a:solidFill>
            <a:srgbClr val="EAF3FB"/>
          </a:solidFill>
          <a:ln>
            <a:solidFill>
              <a:srgbClr val="9DC3E6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π(a|s)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função Q(s,a)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017520" y="2240280"/>
            <a:ext cx="1207008" cy="274320"/>
          </a:xfrm>
          <a:prstGeom prst="line">
            <a:avLst/>
          </a:prstGeom>
          <a:noFill/>
          <a:ln w="22860">
            <a:solidFill>
              <a:srgbClr val="24A9E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17520" y="3383280"/>
            <a:ext cx="1207008" cy="0"/>
          </a:xfrm>
          <a:prstGeom prst="line">
            <a:avLst/>
          </a:prstGeom>
          <a:noFill/>
          <a:ln w="22860">
            <a:solidFill>
              <a:srgbClr val="24A9E0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6995160" y="246888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aₜ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73952" y="2788920"/>
            <a:ext cx="493776" cy="0"/>
          </a:xfrm>
          <a:prstGeom prst="line">
            <a:avLst/>
          </a:prstGeom>
          <a:noFill/>
          <a:ln w="22860">
            <a:solidFill>
              <a:srgbClr val="1F66B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842248" y="2724912"/>
            <a:ext cx="601297" cy="612648"/>
          </a:xfrm>
          <a:prstGeom prst="line">
            <a:avLst/>
          </a:prstGeom>
          <a:noFill/>
          <a:ln w="22860">
            <a:solidFill>
              <a:srgbClr val="1F66B1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8001000" y="1307592"/>
            <a:ext cx="35204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escolhe ações para maximizar a soma de recompensas futuras.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8208475" y="3346703"/>
            <a:ext cx="37490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74A7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Gₜ = rₜ₊₁ + γrₜ₊₂ + γ²rₜ₊₃ + ...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50307" y="3922775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= 0,99 no artigo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27857" y="4553711"/>
            <a:ext cx="2527212" cy="1069849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algn="ctr"/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Atari: </a:t>
            </a:r>
          </a:p>
          <a:p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 = </a:t>
            </a:r>
            <a:r>
              <a:rPr lang="en-US" sz="165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Pilha</a:t>
            </a: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4 frames </a:t>
            </a:r>
          </a:p>
          <a:p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= </a:t>
            </a:r>
            <a:r>
              <a:rPr lang="en-US" sz="165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</a:t>
            </a: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joystick </a:t>
            </a:r>
          </a:p>
          <a:p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 = </a:t>
            </a:r>
            <a:r>
              <a:rPr lang="en-US" sz="165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</a:t>
            </a: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pontuação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Fundamentação teórica: Q-learning → DQN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77240" y="1261872"/>
            <a:ext cx="54864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4A7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Q*(s,a) = retorno futuro máximo esperado após tomar a ação a no estado 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920240"/>
            <a:ext cx="5257800" cy="548640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1F1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Q*(s,a) = maxπ  E[ Σ γᵏ rₜ₊ₖ₊₁ | sₜ=s, aₜ=a ]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743200"/>
            <a:ext cx="525780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 do Q-learning
</a:t>
            </a: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Q(s,a) e, em cada estado, preferir a ação com maior valor. O DQN usa uma CNN como aproximador de Q.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37960" y="123444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65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fica instável com redes profundas?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65392" y="1847088"/>
            <a:ext cx="4709160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Observações consecutivas são fortemente correlacionadas.</a:t>
            </a:r>
            <a:endParaRPr lang="en-US" sz="16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Atualizar Q muda a política e, portanto, a distribuição dos dados.</a:t>
            </a:r>
            <a:endParaRPr lang="en-US" sz="16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alvo usa valores Q que também estão sendo atualizados.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601968" y="43159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do DQN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4709160"/>
            <a:ext cx="4617720" cy="594360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  +  target network congelada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Arquitetura da Deep Q-Network (DQN)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868680" y="532180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Mnih et al. (2015), Figura 1.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818120" y="1234440"/>
            <a:ext cx="3657600" cy="713232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
</a:t>
            </a:r>
            <a:r>
              <a:rPr lang="en-US" sz="14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× 84 × 4 (quatro frames pré-processados)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818120" y="2084832"/>
            <a:ext cx="3657600" cy="758952"/>
          </a:xfrm>
          <a:prstGeom prst="rect">
            <a:avLst/>
          </a:prstGeom>
          <a:solidFill>
            <a:srgbClr val="F5F7FA"/>
          </a:solidFill>
          <a:ln w="12700">
            <a:solidFill>
              <a:srgbClr val="D9E1F2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1
</a:t>
            </a:r>
            <a:r>
              <a:rPr lang="en-US" sz="14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filtros 8×8 • stride 4 • ReLU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818120" y="2971800"/>
            <a:ext cx="3657600" cy="758952"/>
          </a:xfrm>
          <a:prstGeom prst="rect">
            <a:avLst/>
          </a:prstGeom>
          <a:solidFill>
            <a:srgbClr val="F5F7FA"/>
          </a:solidFill>
          <a:ln w="12700">
            <a:solidFill>
              <a:srgbClr val="D9E1F2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2 + Conv 3
</a:t>
            </a:r>
            <a:r>
              <a:rPr lang="en-US" sz="14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filtros 4×4 s2 → 64 filtros 3×3 s1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818120" y="3858768"/>
            <a:ext cx="3657600" cy="758952"/>
          </a:xfrm>
          <a:prstGeom prst="rect">
            <a:avLst/>
          </a:prstGeom>
          <a:solidFill>
            <a:srgbClr val="F5F7FA"/>
          </a:solidFill>
          <a:ln w="12700">
            <a:solidFill>
              <a:srgbClr val="D9E1F2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connected
</a:t>
            </a:r>
            <a:r>
              <a:rPr lang="en-US" sz="14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unidades ReLU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818120" y="4745736"/>
            <a:ext cx="3657600" cy="804672"/>
          </a:xfrm>
          <a:prstGeom prst="rect">
            <a:avLst/>
          </a:prstGeom>
          <a:solidFill>
            <a:srgbClr val="EAF8FC"/>
          </a:solidFill>
          <a:ln w="12700">
            <a:solidFill>
              <a:srgbClr val="D9E1F2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
</a:t>
            </a:r>
            <a:r>
              <a:rPr lang="en-US" sz="14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Q-value por ação válida (4 a 18 ações)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882128" y="5650992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passada calcula Q para todas as ações.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7BE1B58E-3092-4E7E-89C9-C8A128007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23" y="1582543"/>
            <a:ext cx="7007330" cy="36585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Metodologia: cenário experimental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2377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jogos Atari 2600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429000" y="1234440"/>
            <a:ext cx="2377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24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de treino por jogo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126480" y="1234440"/>
            <a:ext cx="2377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episódios de avaliação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823960" y="1234440"/>
            <a:ext cx="2377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24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 min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episódio avaliado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4983480" cy="2103120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fixa
</a:t>
            </a: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arquitetura, algoritmo e hiperparâmetros em todos os jogos. Porém, uma rede diferente é treinada para cada jogo.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309360" y="2971800"/>
            <a:ext cx="49834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prévio mínimo
</a:t>
            </a: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sabe que recebe imagens, conhece o número de ações e usa a contagem de vidas para delimitar episódios. Ele não recebe semântica dos comandos.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971800" y="5486400"/>
            <a:ext cx="6172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original: 210 × 160 pixels, 128 cores, 60 Hz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Metodologia: pré-processamento da observação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76072" y="1920240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bruto
</a:t>
            </a: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210×160 RGB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Hz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185416" y="2633472"/>
            <a:ext cx="274320" cy="0"/>
          </a:xfrm>
          <a:prstGeom prst="line">
            <a:avLst/>
          </a:prstGeom>
          <a:noFill/>
          <a:ln w="22860">
            <a:solidFill>
              <a:srgbClr val="24A9E0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2514600" y="1920240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Anti-flicker
</a:t>
            </a: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pixel a pixel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2 frames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23944" y="2633472"/>
            <a:ext cx="274320" cy="0"/>
          </a:xfrm>
          <a:prstGeom prst="line">
            <a:avLst/>
          </a:prstGeom>
          <a:noFill/>
          <a:ln w="22860">
            <a:solidFill>
              <a:srgbClr val="24A9E0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453128" y="1920240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Luminância
</a:t>
            </a: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Y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(grayscale)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62472" y="2633472"/>
            <a:ext cx="274320" cy="0"/>
          </a:xfrm>
          <a:prstGeom prst="line">
            <a:avLst/>
          </a:prstGeom>
          <a:noFill/>
          <a:ln w="22860">
            <a:solidFill>
              <a:srgbClr val="24A9E0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91656" y="1920240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Redimensionar
</a:t>
            </a: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84×84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01000" y="2633472"/>
            <a:ext cx="274320" cy="0"/>
          </a:xfrm>
          <a:prstGeom prst="line">
            <a:avLst/>
          </a:prstGeom>
          <a:noFill/>
          <a:ln w="22860">
            <a:solidFill>
              <a:srgbClr val="24A9E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8330184" y="1920240"/>
            <a:ext cx="157276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Empilhar
</a:t>
            </a: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frames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consecutivos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939528" y="2633472"/>
            <a:ext cx="274320" cy="0"/>
          </a:xfrm>
          <a:prstGeom prst="line">
            <a:avLst/>
          </a:prstGeom>
          <a:noFill/>
          <a:ln w="22860">
            <a:solidFill>
              <a:srgbClr val="24A9E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268712" y="1920240"/>
            <a:ext cx="1344168" cy="1417320"/>
          </a:xfrm>
          <a:prstGeom prst="rect">
            <a:avLst/>
          </a:prstGeom>
          <a:solidFill>
            <a:srgbClr val="EAF8FC"/>
          </a:solidFill>
          <a:ln w="12700">
            <a:solidFill>
              <a:srgbClr val="B7DEE8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
</a:t>
            </a: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84×84×4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40965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empilhar frames?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68680" y="4526280"/>
            <a:ext cx="470916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frame não informa direção ou velocidade. A sequência de quatro frames fornece contexto temporal curto.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46520" y="409651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skipping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46520" y="4526280"/>
            <a:ext cx="46634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escolhida é repetida por 4 frames. Isso reduz custo de decisão e acelera a interação com o emulador.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965960" y="5623560"/>
            <a:ext cx="8229600" cy="438912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menor dimensionalidade + informação temporal suficiente para o controle.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Metodologia: os dois mecanismos de estabilização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77240" y="1280160"/>
            <a:ext cx="502920" cy="502920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17320" y="1307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1938528"/>
            <a:ext cx="5074920" cy="2633472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memory D
</a:t>
            </a: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Guarda as experiências recentes (capacidade: 1.000.000 frames)</a:t>
            </a:r>
            <a:endParaRPr lang="en-US" sz="1700" dirty="0"/>
          </a:p>
          <a:p>
            <a:pPr marL="0" indent="0">
              <a:buNone/>
            </a:pP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Amostra minibatches aleatórios de 32 transições</a:t>
            </a:r>
            <a:endParaRPr lang="en-US" sz="1700" dirty="0"/>
          </a:p>
          <a:p>
            <a:pPr marL="0" indent="0">
              <a:buNone/>
            </a:pP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Quebra correlações temporais</a:t>
            </a:r>
            <a:endParaRPr lang="en-US" sz="1700" dirty="0"/>
          </a:p>
          <a:p>
            <a:pPr marL="0" indent="0">
              <a:buNone/>
            </a:pP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Reutiliza experiências e suaviza mudanças na distribuição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309360" y="1280160"/>
            <a:ext cx="502920" cy="502920"/>
          </a:xfrm>
          <a:prstGeom prst="rect">
            <a:avLst/>
          </a:prstGeom>
          <a:solidFill>
            <a:srgbClr val="24A9E0"/>
          </a:solidFill>
          <a:ln>
            <a:solidFill>
              <a:srgbClr val="24A9E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949440" y="13075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355080" y="1938528"/>
            <a:ext cx="5074920" cy="2633472"/>
          </a:xfrm>
          <a:prstGeom prst="rect">
            <a:avLst/>
          </a:prstGeom>
          <a:solidFill>
            <a:srgbClr val="EAF8FC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Q̂ com parâmetros congelados
</a:t>
            </a: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Uma rede separada calcula os alvos de Q-learning</a:t>
            </a:r>
            <a:endParaRPr lang="en-US" sz="1700" dirty="0"/>
          </a:p>
          <a:p>
            <a:pPr marL="0" indent="0">
              <a:buNone/>
            </a:pP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Pesos são copiados da rede online a cada C = 10.000 updates</a:t>
            </a:r>
            <a:endParaRPr lang="en-US" sz="1700" dirty="0"/>
          </a:p>
          <a:p>
            <a:pPr marL="0" indent="0">
              <a:buNone/>
            </a:pP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Entre cópias, o alvo fica fixo</a:t>
            </a:r>
            <a:endParaRPr lang="en-US" sz="1700" dirty="0"/>
          </a:p>
          <a:p>
            <a:pPr marL="0" indent="0">
              <a:buNone/>
            </a:pP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Reduz o feedback imediato que causa oscilações/divergência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5074920"/>
            <a:ext cx="9966960" cy="658368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Intuição: aprender com amostras menos correlacionadas e perseguir um alvo que não se move a cada passo.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Metodologia: fluxo do algoritmo DQN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13232" y="1234440"/>
            <a:ext cx="411480" cy="411480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98448" y="1207008"/>
            <a:ext cx="4983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ação
</a:t>
            </a:r>
            <a:r>
              <a:rPr lang="en-US" sz="13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ε-greedy: aleatória com prob. ε; caso contrário argmax Q(s,a)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13232" y="2020824"/>
            <a:ext cx="411480" cy="411480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8448" y="1993392"/>
            <a:ext cx="4983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Interagir
</a:t>
            </a:r>
            <a:r>
              <a:rPr lang="en-US" sz="13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a ação e observar recompensa r e próximo frame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2807208"/>
            <a:ext cx="411480" cy="411480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8448" y="2779776"/>
            <a:ext cx="4983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Armazenar
</a:t>
            </a:r>
            <a:r>
              <a:rPr lang="en-US" sz="13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 (s, a, r, s′) na replay memory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3593592"/>
            <a:ext cx="411480" cy="411480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8448" y="3566160"/>
            <a:ext cx="4983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
</a:t>
            </a:r>
            <a:r>
              <a:rPr lang="en-US" sz="13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Sortear minibatch aleatório de transições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3232" y="4379976"/>
            <a:ext cx="411480" cy="411480"/>
          </a:xfrm>
          <a:prstGeom prst="rect">
            <a:avLst/>
          </a:prstGeom>
          <a:solidFill>
            <a:srgbClr val="24A9E0"/>
          </a:solidFill>
          <a:ln>
            <a:solidFill>
              <a:srgbClr val="24A9E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8448" y="4352544"/>
            <a:ext cx="4983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alvo
</a:t>
            </a:r>
            <a:r>
              <a:rPr lang="en-US" sz="13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 target network para obter 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5166360"/>
            <a:ext cx="411480" cy="411480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8448" y="5138928"/>
            <a:ext cx="4983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
</a:t>
            </a:r>
            <a:r>
              <a:rPr lang="en-US" sz="13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erro entre y e Qonline; sincronizar target periodicamente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766560" y="1325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Q-learning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629400" y="1810512"/>
            <a:ext cx="4572000" cy="960120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F1F1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r                         se terminal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F1F1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r + γ maxₐ′ Qtarget(s′,a′)   caso contrário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766560" y="31363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de perda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903720" y="3611880"/>
            <a:ext cx="3931920" cy="566928"/>
          </a:xfrm>
          <a:prstGeom prst="rect">
            <a:avLst/>
          </a:prstGeom>
          <a:solidFill>
            <a:srgbClr val="EAF3FB"/>
          </a:solidFill>
          <a:ln>
            <a:solidFill>
              <a:srgbClr val="9DC3E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74A7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 = ( y − Qonline(s,a) )²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784848" y="4572000"/>
            <a:ext cx="425196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adicionais do artigo:</a:t>
            </a:r>
            <a:endParaRPr lang="en-US" sz="1520" dirty="0"/>
          </a:p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reward clipping para −1, 0 e +1</a:t>
            </a:r>
            <a:endParaRPr lang="en-US" sz="1520" dirty="0"/>
          </a:p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clipping do erro TD em [−1, +1]</a:t>
            </a:r>
            <a:endParaRPr lang="en-US" sz="1520" dirty="0"/>
          </a:p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atualização via RMSProp</a:t>
            </a:r>
            <a:endParaRPr lang="en-US" sz="15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Treinamento e avaliação: parâmetros que importam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68680" y="1664208"/>
            <a:ext cx="21945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memory</a:t>
            </a:r>
            <a:endParaRPr lang="en-US" sz="1520" dirty="0"/>
          </a:p>
        </p:txBody>
      </p:sp>
      <p:sp>
        <p:nvSpPr>
          <p:cNvPr id="5" name="Text 3"/>
          <p:cNvSpPr/>
          <p:nvPr/>
        </p:nvSpPr>
        <p:spPr>
          <a:xfrm>
            <a:off x="3063240" y="1664208"/>
            <a:ext cx="260604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1.000.000 frames</a:t>
            </a:r>
            <a:endParaRPr lang="en-US" sz="1520" dirty="0"/>
          </a:p>
        </p:txBody>
      </p:sp>
      <p:sp>
        <p:nvSpPr>
          <p:cNvPr id="6" name="Text 4"/>
          <p:cNvSpPr/>
          <p:nvPr/>
        </p:nvSpPr>
        <p:spPr>
          <a:xfrm>
            <a:off x="868680" y="2139696"/>
            <a:ext cx="219456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Minibatch</a:t>
            </a:r>
            <a:endParaRPr lang="en-US" sz="1520" dirty="0"/>
          </a:p>
        </p:txBody>
      </p:sp>
      <p:sp>
        <p:nvSpPr>
          <p:cNvPr id="7" name="Text 5"/>
          <p:cNvSpPr/>
          <p:nvPr/>
        </p:nvSpPr>
        <p:spPr>
          <a:xfrm>
            <a:off x="3063240" y="2139696"/>
            <a:ext cx="260604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520" dirty="0"/>
          </a:p>
        </p:txBody>
      </p:sp>
      <p:sp>
        <p:nvSpPr>
          <p:cNvPr id="8" name="Text 6"/>
          <p:cNvSpPr/>
          <p:nvPr/>
        </p:nvSpPr>
        <p:spPr>
          <a:xfrm>
            <a:off x="868680" y="2615184"/>
            <a:ext cx="21945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</a:t>
            </a:r>
            <a:endParaRPr lang="en-US" sz="1520" dirty="0"/>
          </a:p>
        </p:txBody>
      </p:sp>
      <p:sp>
        <p:nvSpPr>
          <p:cNvPr id="9" name="Text 7"/>
          <p:cNvSpPr/>
          <p:nvPr/>
        </p:nvSpPr>
        <p:spPr>
          <a:xfrm>
            <a:off x="3063240" y="2615184"/>
            <a:ext cx="260604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</a:t>
            </a:r>
            <a:endParaRPr lang="en-US" sz="1520" dirty="0"/>
          </a:p>
        </p:txBody>
      </p:sp>
      <p:sp>
        <p:nvSpPr>
          <p:cNvPr id="10" name="Text 8"/>
          <p:cNvSpPr/>
          <p:nvPr/>
        </p:nvSpPr>
        <p:spPr>
          <a:xfrm>
            <a:off x="868680" y="3090672"/>
            <a:ext cx="219456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520" dirty="0"/>
          </a:p>
        </p:txBody>
      </p:sp>
      <p:sp>
        <p:nvSpPr>
          <p:cNvPr id="11" name="Text 9"/>
          <p:cNvSpPr/>
          <p:nvPr/>
        </p:nvSpPr>
        <p:spPr>
          <a:xfrm>
            <a:off x="3063240" y="3090672"/>
            <a:ext cx="260604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0,00025 (RMSProp)</a:t>
            </a:r>
            <a:endParaRPr lang="en-US" sz="1520" dirty="0"/>
          </a:p>
        </p:txBody>
      </p:sp>
      <p:sp>
        <p:nvSpPr>
          <p:cNvPr id="12" name="Text 10"/>
          <p:cNvSpPr/>
          <p:nvPr/>
        </p:nvSpPr>
        <p:spPr>
          <a:xfrm>
            <a:off x="868680" y="3566160"/>
            <a:ext cx="21945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Exploração ε</a:t>
            </a:r>
            <a:endParaRPr lang="en-US" sz="1520" dirty="0"/>
          </a:p>
        </p:txBody>
      </p:sp>
      <p:sp>
        <p:nvSpPr>
          <p:cNvPr id="13" name="Text 11"/>
          <p:cNvSpPr/>
          <p:nvPr/>
        </p:nvSpPr>
        <p:spPr>
          <a:xfrm>
            <a:off x="3063240" y="3566160"/>
            <a:ext cx="260604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 → 0,1 em 1 M frames</a:t>
            </a:r>
            <a:endParaRPr lang="en-US" sz="1520" dirty="0"/>
          </a:p>
        </p:txBody>
      </p:sp>
      <p:sp>
        <p:nvSpPr>
          <p:cNvPr id="14" name="Text 12"/>
          <p:cNvSpPr/>
          <p:nvPr/>
        </p:nvSpPr>
        <p:spPr>
          <a:xfrm>
            <a:off x="868680" y="4041648"/>
            <a:ext cx="219456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start</a:t>
            </a:r>
            <a:endParaRPr lang="en-US" sz="1520" dirty="0"/>
          </a:p>
        </p:txBody>
      </p:sp>
      <p:sp>
        <p:nvSpPr>
          <p:cNvPr id="15" name="Text 13"/>
          <p:cNvSpPr/>
          <p:nvPr/>
        </p:nvSpPr>
        <p:spPr>
          <a:xfrm>
            <a:off x="3063240" y="4041648"/>
            <a:ext cx="260604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50.000 frames</a:t>
            </a:r>
            <a:endParaRPr lang="en-US" sz="1520" dirty="0"/>
          </a:p>
        </p:txBody>
      </p:sp>
      <p:sp>
        <p:nvSpPr>
          <p:cNvPr id="16" name="Text 14"/>
          <p:cNvSpPr/>
          <p:nvPr/>
        </p:nvSpPr>
        <p:spPr>
          <a:xfrm>
            <a:off x="6492240" y="118872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492240" y="1664208"/>
            <a:ext cx="21945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</a:t>
            </a:r>
            <a:endParaRPr lang="en-US" sz="1520" dirty="0"/>
          </a:p>
        </p:txBody>
      </p:sp>
      <p:sp>
        <p:nvSpPr>
          <p:cNvPr id="18" name="Text 16"/>
          <p:cNvSpPr/>
          <p:nvPr/>
        </p:nvSpPr>
        <p:spPr>
          <a:xfrm>
            <a:off x="8686800" y="1664208"/>
            <a:ext cx="260604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ε-greedy, ε = 0,05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139696"/>
            <a:ext cx="219456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Episódios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8686800" y="2139696"/>
            <a:ext cx="260604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por jogo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2615184"/>
            <a:ext cx="21945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</a:t>
            </a:r>
            <a:endParaRPr lang="en-US" sz="1520" dirty="0"/>
          </a:p>
        </p:txBody>
      </p:sp>
      <p:sp>
        <p:nvSpPr>
          <p:cNvPr id="22" name="Text 20"/>
          <p:cNvSpPr/>
          <p:nvPr/>
        </p:nvSpPr>
        <p:spPr>
          <a:xfrm>
            <a:off x="8686800" y="2615184"/>
            <a:ext cx="260604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máx. 5 min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3090672"/>
            <a:ext cx="219456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iniciais</a:t>
            </a:r>
            <a:endParaRPr lang="en-US" sz="1520" dirty="0"/>
          </a:p>
        </p:txBody>
      </p:sp>
      <p:sp>
        <p:nvSpPr>
          <p:cNvPr id="24" name="Text 22"/>
          <p:cNvSpPr/>
          <p:nvPr/>
        </p:nvSpPr>
        <p:spPr>
          <a:xfrm>
            <a:off x="8686800" y="3090672"/>
            <a:ext cx="260604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 30 no-op actions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92240" y="3566160"/>
            <a:ext cx="219456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</a:t>
            </a:r>
            <a:endParaRPr lang="en-US" sz="1520" dirty="0"/>
          </a:p>
        </p:txBody>
      </p:sp>
      <p:sp>
        <p:nvSpPr>
          <p:cNvPr id="26" name="Text 24"/>
          <p:cNvSpPr/>
          <p:nvPr/>
        </p:nvSpPr>
        <p:spPr>
          <a:xfrm>
            <a:off x="8686800" y="3566160"/>
            <a:ext cx="2606040" cy="402336"/>
          </a:xfrm>
          <a:prstGeom prst="rect">
            <a:avLst/>
          </a:prstGeom>
          <a:solidFill>
            <a:srgbClr val="FFFFFF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episódios </a:t>
            </a:r>
            <a:r>
              <a:rPr lang="en-US" sz="150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</a:t>
            </a: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h de prática/jogo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92240" y="4041648"/>
            <a:ext cx="219456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Áudio</a:t>
            </a:r>
            <a:endParaRPr lang="en-US" sz="1520" dirty="0"/>
          </a:p>
        </p:txBody>
      </p:sp>
      <p:sp>
        <p:nvSpPr>
          <p:cNvPr id="28" name="Text 26"/>
          <p:cNvSpPr/>
          <p:nvPr/>
        </p:nvSpPr>
        <p:spPr>
          <a:xfrm>
            <a:off x="8686800" y="4041648"/>
            <a:ext cx="2606040" cy="40233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desabilitado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4965192"/>
            <a:ext cx="9509760" cy="566928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principal: 50 milhões de frames por jogo ≈ 38 dias de experiência de jogo.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143000" y="566928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8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recompensa é recortada durante o treinamento para {−1, 0, +1}; isso facilita usar a mesma taxa de aprendizado, mas perde informação de magnitude.</a:t>
            </a:r>
            <a:endParaRPr lang="en-US" sz="138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Resultados: o treinamento realmente estabiliza?</a:t>
            </a:r>
            <a:endParaRPr lang="en-US" sz="2700" dirty="0"/>
          </a:p>
        </p:txBody>
      </p:sp>
      <p:pic>
        <p:nvPicPr>
          <p:cNvPr id="3" name="Image 0" descr="/mnt/data/seminario_dqn_work/assets/fig2_trai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68780"/>
            <a:ext cx="713232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560527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Mnih et al. (2015), Figura 2.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8001000" y="1325880"/>
            <a:ext cx="3474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médio
</a:t>
            </a: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 a crescer ao longo do treino, mas permanece ruidoso — comportamento esperado em RL.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001000" y="2697480"/>
            <a:ext cx="3474720" cy="1143000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médio previsto
</a:t>
            </a: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 no início e depois fica relativamente estável nos estados de validação.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001000" y="4069080"/>
            <a:ext cx="3474720" cy="1143000"/>
          </a:xfrm>
          <a:prstGeom prst="rect">
            <a:avLst/>
          </a:prstGeom>
          <a:solidFill>
            <a:srgbClr val="EAF8FC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
</a:t>
            </a: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de que redes grandes puderam ser treinadas com sinal de reforço sem divergência catastrófica.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Resultados: desempenho nos 49 jogos</a:t>
            </a:r>
            <a:endParaRPr lang="en-US" sz="2700" dirty="0"/>
          </a:p>
        </p:txBody>
      </p:sp>
      <p:pic>
        <p:nvPicPr>
          <p:cNvPr id="3" name="Image 0" descr="/mnt/data/seminario_dqn_work/assets/fig3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373" y="1115568"/>
            <a:ext cx="4580733" cy="5148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629107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Mnih et al. (2015), Figura 3.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995160" y="132588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43/49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que os métodos de RL anteriores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9189720" y="132588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24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29/49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75% do humano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995160" y="3035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949440" y="3456432"/>
            <a:ext cx="4251960" cy="585216"/>
          </a:xfrm>
          <a:prstGeom prst="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1F1F1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100 × (DQN − Random) / (Humano − Random)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7178040" y="4297680"/>
            <a:ext cx="37947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= agente aleatório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= jogador humano profissional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“human-level” no artigo: ≥ 75%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995160" y="5532120"/>
            <a:ext cx="4160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 contribuição não é vencer todos os jogos: é usar a mesma receita para tarefas muito diferentes.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Resultados: onde o DQN funciona — e onde falha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68680" y="123444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acima da referência humana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68680" y="1783080"/>
            <a:ext cx="16002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2539%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Pinball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651760" y="1783080"/>
            <a:ext cx="16002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1708%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434840" y="1783080"/>
            <a:ext cx="16002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1327%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355080" y="12344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abaixo da referência humana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00800" y="1783080"/>
            <a:ext cx="16002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Montezuma’s Revenge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183880" y="1783080"/>
            <a:ext cx="16002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Eye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966960" y="1783080"/>
            <a:ext cx="16002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6,2%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Frostbite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68680" y="3429000"/>
            <a:ext cx="5166360" cy="1901952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
</a:t>
            </a: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aprende estratégias eficazes em jogos muito diferentes. Em Breakout, por exemplo, aprende a abrir um túnel lateral para colocar a bola atrás dos blocos.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55080" y="3429000"/>
            <a:ext cx="5166360" cy="1901952"/>
          </a:xfrm>
          <a:prstGeom prst="rect">
            <a:avLst/>
          </a:prstGeom>
          <a:solidFill>
            <a:srgbClr val="FFF4E5"/>
          </a:solidFill>
          <a:ln w="12700">
            <a:solidFill>
              <a:srgbClr val="F4B183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65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funcionou
</a:t>
            </a: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artigo destaca que tarefas com planejamento temporal mais longo continuam difíceis. Montezuma’s Revenge é o caso extremo: o agente obtém 0% normalizado.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508760" y="5623560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crítica: desempenho “humano” agregado não significa competência uniforme.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Resultados: replay e target network são realmente necessários?</a:t>
            </a:r>
            <a:endParaRPr lang="en-US" sz="2700" dirty="0"/>
          </a:p>
        </p:txBody>
      </p:sp>
      <p:pic>
        <p:nvPicPr>
          <p:cNvPr id="3" name="Image 0" descr="/mnt/data/seminario_dqn_work/package/notebooks/repro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822"/>
            <a:ext cx="6812280" cy="370294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09560" y="1417320"/>
            <a:ext cx="2971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+ Target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7909560" y="2697480"/>
            <a:ext cx="2971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24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63,6%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/ sem Target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7909560" y="3977640"/>
            <a:ext cx="2971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270" tIns="1270" rIns="1270" bIns="127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A5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25,0%
</a:t>
            </a: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Replay / Target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7909560" y="5321808"/>
            <a:ext cx="297180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Replay e sem Target: 12,1%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452360" y="5806440"/>
            <a:ext cx="38862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todos os 5 jogos da </a:t>
            </a:r>
            <a:r>
              <a:rPr lang="en-US" sz="1430" b="1" dirty="0" err="1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r>
              <a:rPr lang="en-US" sz="143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configuração completa obtém o melhor score.</a:t>
            </a:r>
            <a:endParaRPr lang="en-US" sz="14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Resultados: o que a rede aprende internamente?</a:t>
            </a:r>
            <a:endParaRPr lang="en-US" sz="2700" dirty="0"/>
          </a:p>
        </p:txBody>
      </p:sp>
      <p:pic>
        <p:nvPicPr>
          <p:cNvPr id="3" name="Image 0" descr="/mnt/data/seminario_dqn_work/assets/fig4_ts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186" y="1188720"/>
            <a:ext cx="6003509" cy="46634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589788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Mnih et al. (2015), Figura 4 (t-SNE, Space Invaders).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818120" y="1325880"/>
            <a:ext cx="36118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
</a:t>
            </a: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das ativações da última camada escondida para estados visitados pelo agente.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818120" y="2697480"/>
            <a:ext cx="3611880" cy="1143000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observado
</a:t>
            </a:r>
            <a:r>
              <a:rPr lang="en-US" sz="146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perceptualmente parecidos tendem a ficar próximos; estados diferentes também podem se aproximar quando têm valor previsto semelhante.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818120" y="4069080"/>
            <a:ext cx="3611880" cy="1143000"/>
          </a:xfrm>
          <a:prstGeom prst="rect">
            <a:avLst/>
          </a:prstGeom>
          <a:solidFill>
            <a:srgbClr val="EAF8FC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Interpretação
</a:t>
            </a:r>
            <a:r>
              <a:rPr lang="en-US" sz="148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representação deixa de ser apenas visual e passa a refletir características úteis para decisão e previsão de recompensa.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845552" y="5532120"/>
            <a:ext cx="3566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8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t-SNE é uma visualização; não prova “compreensão” causal do jogo.</a:t>
            </a:r>
            <a:endParaRPr lang="en-US" sz="13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Exemplo prático: reprodução parcial dos resultados</a:t>
            </a:r>
            <a:endParaRPr lang="en-US" sz="2700" dirty="0"/>
          </a:p>
        </p:txBody>
      </p:sp>
      <p:pic>
        <p:nvPicPr>
          <p:cNvPr id="3" name="Image 0" descr="/mnt/data/seminario_dqn_work/package/notebooks/repro_normalized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53509"/>
            <a:ext cx="7040880" cy="34881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5687568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incluído no pacote; dados da Extended Data Table 2.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955280" y="1899036"/>
            <a:ext cx="3520440" cy="1261872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notebook faz
</a:t>
            </a:r>
            <a:r>
              <a:rPr lang="en-US" sz="148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Recalcula a normalização em exemplos</a:t>
            </a:r>
            <a:endParaRPr lang="en-US" sz="1800" dirty="0"/>
          </a:p>
          <a:p>
            <a:pPr marL="0" indent="0">
              <a:buNone/>
            </a:pPr>
            <a:r>
              <a:rPr lang="en-US" sz="148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Verifica 29/49 jogos ≥ 75% do humano</a:t>
            </a:r>
            <a:endParaRPr lang="en-US" sz="1800" dirty="0"/>
          </a:p>
          <a:p>
            <a:pPr marL="0" indent="0">
              <a:buNone/>
            </a:pPr>
            <a:r>
              <a:rPr lang="en-US" sz="148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Reproduz a </a:t>
            </a:r>
            <a:r>
              <a:rPr lang="en-US" sz="148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r>
              <a:rPr lang="en-US" sz="148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replay/target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955280" y="3484968"/>
            <a:ext cx="3520440" cy="1115568"/>
          </a:xfrm>
          <a:prstGeom prst="rect">
            <a:avLst/>
          </a:prstGeom>
          <a:solidFill>
            <a:srgbClr val="FFF4E5"/>
          </a:solidFill>
          <a:ln w="12700">
            <a:solidFill>
              <a:srgbClr val="F4B183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65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notebook NÃO faz
</a:t>
            </a:r>
            <a:r>
              <a:rPr lang="en-US" sz="148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re-treina os agentes Atari por 50 milhões de frames. Isso exigiria muito mais tempo e infraestrutura.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Slide extra — leitura do código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7818120" y="1298448"/>
            <a:ext cx="3611880" cy="1207008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Normalização
</a:t>
            </a:r>
            <a:r>
              <a:rPr lang="en-US" sz="14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 cada jogo para uma escala comparável: 0% = agente aleatório e 100% = referência humana.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18120" y="2743200"/>
            <a:ext cx="36118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Validação 29/49
</a:t>
            </a:r>
            <a:r>
              <a:rPr lang="en-US" sz="14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quantos jogos atingem pelo menos 75% do desempenho humano. O assert confirma exatamente 29 dos 49 jogos.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818120" y="4187952"/>
            <a:ext cx="3611880" cy="1207008"/>
          </a:xfrm>
          <a:prstGeom prst="rect">
            <a:avLst/>
          </a:prstGeom>
          <a:solidFill>
            <a:srgbClr val="EAF8FC"/>
          </a:solidFill>
          <a:ln w="12700">
            <a:solidFill>
              <a:srgbClr val="D9E1F2"/>
            </a:solidFill>
          </a:ln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Estudo de ablação
</a:t>
            </a:r>
            <a:r>
              <a:rPr lang="en-US" sz="14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Replay + Target como 100% e mede quanto do desempenho permanece quando cada mecanismo é removido.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43000" y="6126480"/>
            <a:ext cx="99212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74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principal: o notebook reproduz analiticamente os resultados publicados — ele não re-treina o DQN.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7F7B2E50-1C16-4089-BC39-FD029D1964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75" y="1312219"/>
            <a:ext cx="7055069" cy="1193237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1ABD53B-91CE-4922-BCE7-854DB8D21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05" y="2916936"/>
            <a:ext cx="6723994" cy="849736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6C640877-AA83-4E96-ABA8-B41B53DC96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205" y="4071642"/>
            <a:ext cx="4611416" cy="2126998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5611729F-D64B-4654-8B67-CB822F662669}"/>
              </a:ext>
            </a:extLst>
          </p:cNvPr>
          <p:cNvSpPr/>
          <p:nvPr/>
        </p:nvSpPr>
        <p:spPr>
          <a:xfrm>
            <a:off x="282572" y="1014139"/>
            <a:ext cx="17208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b="1" dirty="0" err="1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9CA7750-F478-4FD6-8FD3-4414940DD680}"/>
              </a:ext>
            </a:extLst>
          </p:cNvPr>
          <p:cNvSpPr/>
          <p:nvPr/>
        </p:nvSpPr>
        <p:spPr>
          <a:xfrm>
            <a:off x="331075" y="2633412"/>
            <a:ext cx="19547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b="1" dirty="0" err="1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r>
              <a:rPr lang="en-US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29/49</a:t>
            </a:r>
            <a:endParaRPr lang="pt-BR" dirty="0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6BE97628-AE3B-4843-A4C5-D288D52210DC}"/>
              </a:ext>
            </a:extLst>
          </p:cNvPr>
          <p:cNvSpPr/>
          <p:nvPr/>
        </p:nvSpPr>
        <p:spPr>
          <a:xfrm>
            <a:off x="282572" y="3766672"/>
            <a:ext cx="21508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b="1" dirty="0" err="1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</a:t>
            </a:r>
            <a:r>
              <a:rPr lang="en-US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b="1" dirty="0" err="1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ablação</a:t>
            </a:r>
            <a:endParaRPr lang="pt-BR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Análise crítica do trabalho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1188720"/>
            <a:ext cx="5440680" cy="2788920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
</a:t>
            </a: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Aprendizado end-to-end diretamente dos pixels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Mesma receita em 49 tarefas diferentes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Estudo de </a:t>
            </a:r>
            <a:r>
              <a:rPr lang="en-US" sz="160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</a:t>
            </a: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dos mecanismos centrais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Comparação com humanos e métodos anteriores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Evidência de representações internas úteis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55080" y="1188720"/>
            <a:ext cx="5166360" cy="2788920"/>
          </a:xfrm>
          <a:prstGeom prst="rect">
            <a:avLst/>
          </a:prstGeom>
          <a:solidFill>
            <a:srgbClr val="FFF4E5"/>
          </a:solidFill>
          <a:ln w="12700">
            <a:solidFill>
              <a:srgbClr val="F4B183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659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
</a:t>
            </a:r>
            <a:r>
              <a:rPr lang="en-US" sz="15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 M frames por jogo: baixa eficiência amostral</a:t>
            </a:r>
            <a:endParaRPr lang="en-US" sz="2000" dirty="0"/>
          </a:p>
          <a:p>
            <a:pPr marL="0" indent="0">
              <a:buNone/>
            </a:pPr>
            <a:r>
              <a:rPr lang="en-US" sz="15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Uma rede separada por jogo</a:t>
            </a:r>
            <a:endParaRPr lang="en-US" sz="2000" dirty="0"/>
          </a:p>
          <a:p>
            <a:pPr marL="0" indent="0">
              <a:buNone/>
            </a:pPr>
            <a:r>
              <a:rPr lang="en-US" sz="15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Reward clipping perde magnitude</a:t>
            </a:r>
            <a:endParaRPr lang="en-US" sz="2000" dirty="0"/>
          </a:p>
          <a:p>
            <a:pPr marL="0" indent="0">
              <a:buNone/>
            </a:pPr>
            <a:r>
              <a:rPr lang="en-US" sz="15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Replay uniforme trata transições como igualmente importantes</a:t>
            </a:r>
            <a:endParaRPr lang="en-US" sz="2000" dirty="0"/>
          </a:p>
          <a:p>
            <a:pPr marL="0" indent="0">
              <a:buNone/>
            </a:pPr>
            <a:r>
              <a:rPr lang="en-US" sz="157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Dificuldade em planejamento temporal estendido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4108494"/>
            <a:ext cx="5440680" cy="1669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melhorias
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priorizado — sugerido pelos próprios autores —, exploração melhor em recompensas raras, maior eficiência amostral e transferência entre </a:t>
            </a:r>
            <a:r>
              <a:rPr lang="en-US" sz="153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0" indent="0">
              <a:buNone/>
            </a:pPr>
            <a:r>
              <a:rPr lang="en-US" sz="153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53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longo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3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0" indent="0">
              <a:buNone/>
            </a:pPr>
            <a:r>
              <a:rPr lang="en-US" sz="153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3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530" dirty="0" err="1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tranferência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  <p:sp>
        <p:nvSpPr>
          <p:cNvPr id="6" name="Text 4"/>
          <p:cNvSpPr/>
          <p:nvPr/>
        </p:nvSpPr>
        <p:spPr>
          <a:xfrm>
            <a:off x="6339840" y="4108494"/>
            <a:ext cx="5166360" cy="1669568"/>
          </a:xfrm>
          <a:prstGeom prst="rect">
            <a:avLst/>
          </a:prstGeom>
          <a:solidFill>
            <a:srgbClr val="EAF8FC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práticas
</a:t>
            </a:r>
            <a:r>
              <a:rPr lang="en-US" sz="153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a partir de sensores de alta dimensão: robótica, simuladores, jogos, controle visual e problemas sequenciais de decisão.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Conclusão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3429000" cy="3246120"/>
          </a:xfrm>
          <a:prstGeom prst="rect">
            <a:avLst/>
          </a:prstGeom>
          <a:solidFill>
            <a:srgbClr val="EAF3FB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Representação
</a:t>
            </a: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aprende características diretamente dos pixels e as orienta para prever valores de ação — sem atributos específicos de cada jogo.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389120" y="1234440"/>
            <a:ext cx="34290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Estabilidade
</a:t>
            </a: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 e target network tornam viável treinar Q-learning com redes profundas em um domínio visual complexo.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01000" y="1234440"/>
            <a:ext cx="3429000" cy="3246120"/>
          </a:xfrm>
          <a:prstGeom prst="rect">
            <a:avLst/>
          </a:prstGeom>
          <a:solidFill>
            <a:srgbClr val="EAF8FC"/>
          </a:solidFill>
          <a:ln w="12700">
            <a:solidFill>
              <a:srgbClr val="D9E1F2"/>
            </a:solidFill>
          </a:ln>
        </p:spPr>
        <p:txBody>
          <a:bodyPr wrap="square" lIns="2286" tIns="2286" rIns="2286" bIns="2286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Desempenho
</a:t>
            </a: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DQN atinge desempenho próximo ou superior ao humano em muitos jogos, mas continua fraco em tarefas de planejamento longo.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03960" y="5237620"/>
            <a:ext cx="9784080" cy="585216"/>
          </a:xfrm>
          <a:prstGeom prst="rect">
            <a:avLst/>
          </a:prstGeom>
          <a:solidFill>
            <a:srgbClr val="1F66B1"/>
          </a:solidFill>
          <a:ln>
            <a:solidFill>
              <a:srgbClr val="1F66B1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o trabalho consolidou uma receita prática para Deep Reinforcement Learning end-to-end.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0" y="233172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Perguntas?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0175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Referências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10607040" cy="71323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MNIH, V. et al. Human-level control through deep reinforcement learning. Nature, v. 518, p. 529–533, 2015. DOI: 10.1038/nature14236.</a:t>
            </a:r>
            <a:endParaRPr lang="en-US" sz="162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607040" cy="658368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SUTTON, R. S.; BARTO, A. G. Reinforcement Learning: An Introduction. MIT Press, 1998.</a:t>
            </a:r>
            <a:endParaRPr lang="en-US" sz="1520" dirty="0"/>
          </a:p>
        </p:txBody>
      </p:sp>
      <p:sp>
        <p:nvSpPr>
          <p:cNvPr id="5" name="Text 3"/>
          <p:cNvSpPr/>
          <p:nvPr/>
        </p:nvSpPr>
        <p:spPr>
          <a:xfrm>
            <a:off x="822960" y="2724912"/>
            <a:ext cx="106070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WATKINS, C. J. C. H.; DAYAN, P. Q-learning. Machine Learning, v. 8, p. 279–292, 1992.</a:t>
            </a:r>
            <a:endParaRPr lang="en-US" sz="1520" dirty="0"/>
          </a:p>
        </p:txBody>
      </p:sp>
      <p:sp>
        <p:nvSpPr>
          <p:cNvPr id="6" name="Text 4"/>
          <p:cNvSpPr/>
          <p:nvPr/>
        </p:nvSpPr>
        <p:spPr>
          <a:xfrm>
            <a:off x="822960" y="3438144"/>
            <a:ext cx="10607040" cy="658368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BELLEMARE, M. G. et al. The Arcade Learning Environment: An Evaluation Platform for General Agents. JAIR, v. 47, p. 253–279, 2013.</a:t>
            </a:r>
            <a:endParaRPr lang="en-US" sz="1520" dirty="0"/>
          </a:p>
        </p:txBody>
      </p:sp>
      <p:sp>
        <p:nvSpPr>
          <p:cNvPr id="7" name="Text 5"/>
          <p:cNvSpPr/>
          <p:nvPr/>
        </p:nvSpPr>
        <p:spPr>
          <a:xfrm>
            <a:off x="822960" y="4151376"/>
            <a:ext cx="106070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LIN, L.-J. Reinforcement Learning for Robots Using Neural Networks. Technical Report, 1993.</a:t>
            </a:r>
            <a:endParaRPr lang="en-US" sz="1520" dirty="0"/>
          </a:p>
        </p:txBody>
      </p:sp>
      <p:sp>
        <p:nvSpPr>
          <p:cNvPr id="8" name="Text 6"/>
          <p:cNvSpPr/>
          <p:nvPr/>
        </p:nvSpPr>
        <p:spPr>
          <a:xfrm>
            <a:off x="822960" y="4864608"/>
            <a:ext cx="10607040" cy="658368"/>
          </a:xfrm>
          <a:prstGeom prst="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2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VAN DER MAATEN, L.; HINTON, G. Visualizing Data using t-SNE. JMLR, v. 9, p. 2579–2605, 2008.</a:t>
            </a:r>
            <a:endParaRPr lang="en-US" sz="1520" dirty="0"/>
          </a:p>
        </p:txBody>
      </p:sp>
      <p:sp>
        <p:nvSpPr>
          <p:cNvPr id="9" name="Text 7"/>
          <p:cNvSpPr/>
          <p:nvPr/>
        </p:nvSpPr>
        <p:spPr>
          <a:xfrm>
            <a:off x="1143000" y="59893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referências acima são citadas pelo artigo ou utilizadas diretamente para explicar os conceitos do seminário.</a:t>
            </a:r>
            <a:endParaRPr lang="en-US" sz="12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A0A0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858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F1F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Obrigado!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66659" y="2055823"/>
            <a:ext cx="6157556" cy="2989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do </a:t>
            </a:r>
            <a:r>
              <a:rPr lang="en-US" sz="2300" b="1" dirty="0" err="1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</a:t>
            </a:r>
            <a:r>
              <a:rPr lang="en-US" sz="23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br>
              <a:rPr lang="en-US" sz="23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23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300" b="1" dirty="0">
                <a:solidFill>
                  <a:srgbClr val="1F66B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https://forms.cloud.microsoft/Pages/ResponsePage.aspx?id=USyefs-fLk-nmwl-UqQkzUyY0qIxJGlMnBH3YP-fAcxUNkJUNlQ4UU03MkE1Tzg3TDNQTldMRUZTUi4u</a:t>
            </a:r>
            <a:endParaRPr lang="en-US" sz="2300" dirty="0"/>
          </a:p>
        </p:txBody>
      </p:sp>
      <p:pic>
        <p:nvPicPr>
          <p:cNvPr id="8" name="Image 0" descr="/mnt/data/seminario_dqn_work/assets/inate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615" y="5532120"/>
            <a:ext cx="1227434" cy="86868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DF5061-5ECA-41B5-B35E-DD9C98B7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6236" y="1504031"/>
            <a:ext cx="4266149" cy="42661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3223</TotalTime>
  <Words>2349</Words>
  <Application>Microsoft Office PowerPoint</Application>
  <PresentationFormat>Widescreen</PresentationFormat>
  <Paragraphs>276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Inatel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Human-level control through deep reinforcement learning - Seminário TP558</dc:title>
  <dc:subject>TP558 - Seminário sobre Human-level control through deep reinforcement learning</dc:subject>
  <dc:creator>OpenAI</dc:creator>
  <cp:lastModifiedBy>João Roberto Teixeira dos Santos</cp:lastModifiedBy>
  <cp:revision>9</cp:revision>
  <dcterms:created xsi:type="dcterms:W3CDTF">2026-08-26T11:27:55Z</dcterms:created>
  <dcterms:modified xsi:type="dcterms:W3CDTF">2026-08-28T17:25:03Z</dcterms:modified>
</cp:coreProperties>
</file>