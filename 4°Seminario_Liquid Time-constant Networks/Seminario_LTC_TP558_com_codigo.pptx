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1" r:id="rId20"/>
    <p:sldId id="282" r:id="rId21"/>
    <p:sldId id="274" r:id="rId22"/>
    <p:sldId id="275" r:id="rId23"/>
    <p:sldId id="276" r:id="rId24"/>
    <p:sldId id="280" r:id="rId25"/>
    <p:sldId id="278" r:id="rId26"/>
    <p:sldId id="279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631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a pergunta: como uma rede neural pode ajustar sua velocidade de reação conforme o sinal recebido? Informe seu nome antes da entrega. Tempo: 0:40.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código não será apresentado em detalhe. Tempo: 0:40.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Contextualizar com sensores de processo e mudanças de regime. Não afirmar que LSTM só suporta amostragem regular; o contraste principal é a formulação dinâmica. Tempo: 1:10.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artigo não formula uma hipótese estatística única; a hipótese apresentada é uma síntese da motivação e dos argumentos dos autores. Tempo: 1:15.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Evidenciar que tempo contínuo se refere à dinâmica do estado, não à obrigação de observar um sensor continuamente. Tempo: 1:15.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constante de tempo efetiva decorre da parametrização do campo vetorial e pode variar ao longo da trajetória. Não confundir com parâmetros do solver. Tempo: 1:15.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forma escalar da Eq. (1) do artigo, omitindo os índices de neurônios para facilitar. A forma é a representação geral do artigo; atenção aos símbolos e à interpretação de f. Tempo: 1:45.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Derivar informalmente reorganizando o coeficiente que multiplica x. Falar sobre sensibilidade ao contexto. Tempo: 1:20.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a precisão e o custo dependem da integração numérica. Fluxo conceitual, não diagrama de arquitetura completo. Tempo: 1:10.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artigo compara solvers e introduz uma estratégia fused para atualizações LTC. Observação: a Eq. 3 do artigo expressa uma atualização explícita do estado pelo solver. Tempo: 1:20.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artigo contrasta custos de BPTT convencional e abordagem adjunta; discutir trade-off memória/tempo sem prometer superioridade universal. Tempo: 1:10.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Citar Hochreiter &amp; Schmidhuber 1997, Funahashi &amp; Nakamura 1993, Chen et al. 2018 como referências históricas, todas mencionadas no artigo. Tempo: 1:10.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Evitar equivaler comprimento de trajetória a acurácia. É uma medida de expressividade, complementar aos benchmarks. Tempo: 1:25.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Theorem 1: limites de tau; Theorem 2: limitações de estado; Theorem 3: aproximação universal. Não apresentar provas completas em 30 min. Tempo: 1:25.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original: quadros A-D e histogramas da figura 3; salientar dependência das configurações experimentais. Não dizer que toda LTC é mais expressiva em qualquer cenário. Tempo: 1:30.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Apontar que o artigo usa conjuntos de tarefas distintas e escalas de métricas distintas. Exemplo: occupancy, activity, traffic, power, ozone. Ler cabeçalhos da tabela com cuidado durante ensaio. Tempo: 1:35.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5 mostra setting 2 de atividade humana; tabela 6 refere-se a modelagem de Half-Cheetah. Observar que o desempenho varia por arquitetura e tarefa. Tempo: 1:20.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gráfico gerado previamente pelo notebook se possível. DEMONSTRAÇÃO DIDÁTICA de uma dinâmica LTC-like, NÃO replicação dos benchmarks/arquitetura treinada do artigo. Tempo: 1:15.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Separar fatos do artigo de inferências críticas: custo de solver é discutido no artigo; desafios de operação e tuning são avaliação crítica. Tempo: 1:30.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Aplicações e melhorias aqui são propostas de análise crítica, não resultados comprovados pelo artigo. Tempo: 1:15.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Evitar extrapolar para superioridade universal. Fazer síntese de ideia, formulação, evidências e limitações. Tempo: 1:30.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quiz deve existir como Google Forms real antes da entrega final. Arquivo auxiliar traz perguntas e gabarito para transferência.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Fontes principais citadas pelo artigo. As figuras foram reproduzidas a partir do PDF Artigo_4.pdf.
[Sources]
Hasani et al. (2020), Liquid Time-constant Networks, arXiv:2006.04439. Figures/tables credited separately when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cloud.microsoft/r/yr7a1w8WSM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" y="658368"/>
            <a:ext cx="10241280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TP558 - Tópicos avançados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Machine Learning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920240"/>
            <a:ext cx="10817352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35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Time-constant Networks</a:t>
            </a:r>
            <a:endParaRPr lang="en-US" sz="3500" dirty="0"/>
          </a:p>
        </p:txBody>
      </p:sp>
      <p:pic>
        <p:nvPicPr>
          <p:cNvPr id="4" name="Image 0" descr="/mnt/data/ltc_work/robo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208" y="3233470"/>
            <a:ext cx="1965960" cy="1479196"/>
          </a:xfrm>
          <a:prstGeom prst="rect">
            <a:avLst/>
          </a:prstGeom>
        </p:spPr>
      </p:pic>
      <p:pic>
        <p:nvPicPr>
          <p:cNvPr id="5" name="Image 1" descr="/mnt/data/ltc_work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19" y="5760720"/>
            <a:ext cx="981947" cy="6949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18704" y="5669280"/>
            <a:ext cx="329184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Roberto Teixeira dos Santos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joao.r@inatel.br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 e distribuição do tempo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Abertura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435608"/>
            <a:ext cx="5166360" cy="1463040"/>
          </a:xfrm>
          <a:prstGeom prst="roundRect">
            <a:avLst>
              <a:gd name="adj" fmla="val 7500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45336"/>
            <a:ext cx="48006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947672"/>
            <a:ext cx="4764024" cy="8503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Problema, objetivo e ideia de tempo contínuo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435608"/>
            <a:ext cx="5166360" cy="1463040"/>
          </a:xfrm>
          <a:prstGeom prst="roundRect">
            <a:avLst>
              <a:gd name="adj" fmla="val 7500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1545336"/>
            <a:ext cx="48006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27648" y="1947672"/>
            <a:ext cx="4764024" cy="8503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LTC, EDO, solver e treinamento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127248"/>
            <a:ext cx="5166360" cy="1463040"/>
          </a:xfrm>
          <a:prstGeom prst="roundRect">
            <a:avLst>
              <a:gd name="adj" fmla="val 7500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236976"/>
            <a:ext cx="48006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6968" y="3639312"/>
            <a:ext cx="4764024" cy="8503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Expressividade, benchmarks e resultados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38672" y="3127248"/>
            <a:ext cx="5166360" cy="1463040"/>
          </a:xfrm>
          <a:prstGeom prst="roundRect">
            <a:avLst>
              <a:gd name="adj" fmla="val 7500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3236976"/>
            <a:ext cx="48006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27648" y="3639312"/>
            <a:ext cx="4764024" cy="8503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</a:t>
            </a: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16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modelos sequenciais precisam de dinâmica?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Abertura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0728" y="1676683"/>
            <a:ext cx="10090543" cy="1752317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Séries temporais e sensores apresentam padrões que mudam com o tempo.</a:t>
            </a:r>
            <a:endParaRPr lang="en-US" sz="32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discretos tradicionais avançam por passos de atualização fixos.</a:t>
            </a:r>
            <a:endParaRPr lang="en-US" sz="32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estado interno contínuo permite descrever a evolução entre observações.</a:t>
            </a:r>
            <a:endParaRPr lang="en-US" sz="32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Desafio: expressar dinâmicas complexas com modelos treináveis e eficientes</a:t>
            </a: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Objetivo, hipótese e contribuições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Introdução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35331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463040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1865376"/>
            <a:ext cx="4946904" cy="12161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 uma classe de RNNs de tempo contínuo baseada em EDOs com constantes de tempo variáveis.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9632" y="135331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63040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 central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865376"/>
            <a:ext cx="4946904" cy="12161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dinâmica dependente da entrada amplia o repertório de comportamentos temporais representáveis.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474720"/>
            <a:ext cx="10698480" cy="21031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LTC e treinamento via solver numérico com gradientes.</a:t>
            </a:r>
            <a:endParaRPr lang="en-US" sz="2000" dirty="0"/>
          </a:p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Propriedades teóricas de estabilidade e aproximação universal.</a:t>
            </a:r>
            <a:endParaRPr lang="en-US" sz="2000" dirty="0"/>
          </a:p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de expressividade e de desempenho em tarefas sequenciais.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Fundamentos: RNN discreta × tempo contínuo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Fundamentação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81912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91640"/>
            <a:ext cx="47548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 em tempo discreto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093976"/>
            <a:ext cx="4718304" cy="1353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hₖ₊₁ = F(hₖ, xₖ)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dinâmica é aplicada em instantes discretos.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7648" y="1581912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8816" y="1691640"/>
            <a:ext cx="47548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ODE / CT-RNN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28816" y="2093976"/>
            <a:ext cx="4718304" cy="1353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dh/dt = f(h(t), x(t), t)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EDO descreve a evolução do estado.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224528"/>
            <a:ext cx="103784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EDO = equação diferencial ordinária   |   h(t) = estado oculto   |   x(t) = entrada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torna uma LTC “líquida”?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Fundamentação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157216" cy="1920240"/>
          </a:xfrm>
          <a:prstGeom prst="roundRect">
            <a:avLst>
              <a:gd name="adj" fmla="val 5714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18488"/>
            <a:ext cx="47914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Constante de tempo fixa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020824"/>
            <a:ext cx="4754880" cy="1307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dinâmica clássica, a taxa de relaxação pode ser determinada por τ fixo.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91072" y="1508760"/>
            <a:ext cx="5166360" cy="1920240"/>
          </a:xfrm>
          <a:prstGeom prst="roundRect">
            <a:avLst>
              <a:gd name="adj" fmla="val 5714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18488"/>
            <a:ext cx="48006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Constante de tempo adaptativa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020824"/>
            <a:ext cx="4764024" cy="1307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rede altera sua taxa de resposta de acordo com o estado e a entrada.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096512"/>
            <a:ext cx="1024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Intuição: estímulos diferentes podem produzir respostas rápidas ou lentas.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Equação fundamental da LTC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Metodologia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10607040" cy="1417320"/>
          </a:xfrm>
          <a:prstGeom prst="roundRect">
            <a:avLst/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755648"/>
            <a:ext cx="99669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dx/dt = − [1/τ + f(x, I, t, θ)] x + f(x, I, t, θ) A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41248" y="3246120"/>
            <a:ext cx="10424160" cy="23774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x(t): estado do neurônio; I(t): entrada; θ: parâmetros treináveis.</a:t>
            </a:r>
            <a:endParaRPr lang="en-US" sz="2000" dirty="0"/>
          </a:p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τ: constante de tempo de referência; A: parâmetro de polarização.</a:t>
            </a:r>
            <a:endParaRPr lang="en-US" sz="2000" dirty="0"/>
          </a:p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f(·): função não linear de modulação da dinâmica.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constante de tempo efetiva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Metodologia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10241280" cy="9326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τₛᵧₛ = τ / [1 + τ f(x, I, t, θ)]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68096" y="2907792"/>
            <a:ext cx="5029200" cy="1435608"/>
          </a:xfrm>
          <a:prstGeom prst="roundRect">
            <a:avLst>
              <a:gd name="adj" fmla="val 7643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3017520"/>
            <a:ext cx="46634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f aumenta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9264" y="3419856"/>
            <a:ext cx="46268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τₛᵧₛ diminui → resposta mais rápida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2907792"/>
            <a:ext cx="5029200" cy="1435608"/>
          </a:xfrm>
          <a:prstGeom prst="roundRect">
            <a:avLst>
              <a:gd name="adj" fmla="val 7643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3017520"/>
            <a:ext cx="46634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f diminui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0528" y="3419856"/>
            <a:ext cx="46268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τₛᵧₛ aumenta → resposta mais lenta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5020056"/>
            <a:ext cx="101498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Expressão válida sob as condições da parametrização descrita no artigo.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modelo processa uma sequência?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Metodologia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93192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84248"/>
            <a:ext cx="15910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386584"/>
            <a:ext cx="155448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I(t)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04872" y="2569464"/>
            <a:ext cx="32004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88920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088" y="1984248"/>
            <a:ext cx="15910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90088" y="2386584"/>
            <a:ext cx="155448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EDO LTC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00600" y="2569464"/>
            <a:ext cx="32004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84648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5816" y="1984248"/>
            <a:ext cx="15910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85816" y="2386584"/>
            <a:ext cx="155448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96328" y="2569464"/>
            <a:ext cx="32004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80376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81544" y="1984248"/>
            <a:ext cx="15910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81544" y="2386584"/>
            <a:ext cx="155448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x(t+Δt)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92056" y="2569464"/>
            <a:ext cx="32004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976104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77272" y="1984248"/>
            <a:ext cx="15910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77272" y="2386584"/>
            <a:ext cx="155448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ŷ(t)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4160520"/>
            <a:ext cx="10652760" cy="15087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solver estima a evolução do estado no intervalo de integração.</a:t>
            </a:r>
            <a:endParaRPr lang="en-US" sz="2000" dirty="0"/>
          </a:p>
          <a:p>
            <a:pPr marL="241300" indent="-241300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saída é calculada a partir do estado integrado.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Solvers e custo numérico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Metodologia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7512" y="1435608"/>
            <a:ext cx="3493008" cy="2148840"/>
          </a:xfrm>
          <a:prstGeom prst="roundRect">
            <a:avLst>
              <a:gd name="adj" fmla="val 5106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45336"/>
            <a:ext cx="312724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Euler explícito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947672"/>
            <a:ext cx="3090672" cy="1536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e barato por passo; pode exigir passos pequenos por estabilidade/precisão.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435608"/>
            <a:ext cx="3493008" cy="2148840"/>
          </a:xfrm>
          <a:prstGeom prst="roundRect">
            <a:avLst>
              <a:gd name="adj" fmla="val 5106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545336"/>
            <a:ext cx="312724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Runge-Kutta / ODE solver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44568" y="1947672"/>
            <a:ext cx="3090672" cy="1536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precisão por passo; custo de avaliações do campo vetorial.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28432" y="1435608"/>
            <a:ext cx="3502152" cy="2148840"/>
          </a:xfrm>
          <a:prstGeom prst="roundRect">
            <a:avLst>
              <a:gd name="adj" fmla="val 5106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545336"/>
            <a:ext cx="313639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 fused proposto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1947672"/>
            <a:ext cx="3099816" cy="1536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 as atualizações de estado e integra a dinâmica em execução eficiente.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1069848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confundir: a arquitetura LTC e o algoritmo de integração são escolhas distintas.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Treinamento: retropropagação no tempo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Metodologia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89887"/>
            <a:ext cx="10608703" cy="4761523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rede é desenrolada ao longo dos instantes observados.</a:t>
            </a:r>
            <a:endParaRPr lang="en-US" sz="36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estado é integrado numericamente a cada passo.</a:t>
            </a:r>
            <a:endParaRPr lang="en-US" sz="36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perda compara saídas previstas com valores-alvo.</a:t>
            </a:r>
            <a:endParaRPr lang="en-US" sz="36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Gradientes atualizam θ por backpropagation through time (BPTT).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Fundamentação: estudos relacionados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Fundamentação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27048"/>
            <a:ext cx="3474720" cy="2029968"/>
          </a:xfrm>
          <a:prstGeom prst="roundRect">
            <a:avLst>
              <a:gd name="adj" fmla="val 5405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36776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2039112"/>
            <a:ext cx="3072384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 discreta com portas e memória temporal.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61688" y="1527048"/>
            <a:ext cx="3474720" cy="2029968"/>
          </a:xfrm>
          <a:prstGeom prst="roundRect">
            <a:avLst>
              <a:gd name="adj" fmla="val 5405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2856" y="1636776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CT-RNN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62856" y="2039112"/>
            <a:ext cx="3072384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recorrentes de dinâmica contínua.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65008" y="1527048"/>
            <a:ext cx="3474720" cy="2029968"/>
          </a:xfrm>
          <a:prstGeom prst="roundRect">
            <a:avLst>
              <a:gd name="adj" fmla="val 5405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1636776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ODE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66176" y="2039112"/>
            <a:ext cx="3072384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Aprendizado de campos vetoriais integrados por EDOs.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3816" y="4352544"/>
            <a:ext cx="10607040" cy="8138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Contribuição da LTC: modulação adaptativa da constante de tempo e análise de expressividade.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Expressividade: comprimento de trajetória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Resultados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741622" y="2058459"/>
            <a:ext cx="4825538" cy="3103971"/>
          </a:xfrm>
          <a:prstGeom prst="roundRect">
            <a:avLst>
              <a:gd name="adj" fmla="val 5505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2789" y="2168187"/>
            <a:ext cx="4439495" cy="54105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 da métrica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932946" y="2818974"/>
            <a:ext cx="4400891" cy="214999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Trajetórias latentes mais longas podem indicar maior complexidade geométrica da representação.</a:t>
            </a:r>
            <a:endParaRPr lang="en-US" sz="28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C262F70-5651-4735-BA86-F4F824A6B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39" y="1769037"/>
            <a:ext cx="6049217" cy="33199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teórico: estabilidade e aproximação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Resultados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7512" y="1399032"/>
            <a:ext cx="5321808" cy="2240280"/>
          </a:xfrm>
          <a:prstGeom prst="roundRect">
            <a:avLst>
              <a:gd name="adj" fmla="val 4898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495604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Dinâmica limitada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911096"/>
            <a:ext cx="4919472" cy="1627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 hipóteses sobre a ativação e os parâmetros, o artigo estabelece limites para o estado e a constante de tempo.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399032"/>
            <a:ext cx="5321808" cy="2240280"/>
          </a:xfrm>
          <a:prstGeom prst="roundRect">
            <a:avLst>
              <a:gd name="adj" fmla="val 4898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508760"/>
            <a:ext cx="495604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Aproximação universal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73368" y="1911096"/>
            <a:ext cx="4919472" cy="1627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Teorema 3 demonstra capacidade de aproximação de determinados sistemas dinâmicos sob condições formais.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10515600" cy="1645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29235" indent="-229235">
              <a:lnSpc>
                <a:spcPct val="108000"/>
              </a:lnSpc>
              <a:buSzPct val="100000"/>
              <a:buChar char="•"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Estabilidade, expressividade e precisão preditiva são propriedades diferentes.</a:t>
            </a:r>
            <a:endParaRPr lang="en-US" sz="1900" dirty="0"/>
          </a:p>
          <a:p>
            <a:pPr marL="229235" indent="-229235">
              <a:lnSpc>
                <a:spcPct val="108000"/>
              </a:lnSpc>
              <a:buSzPct val="100000"/>
              <a:buChar char="•"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teoremas dependem de hipóteses: não são garantias para toda configuração.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 de </a:t>
            </a:r>
            <a:r>
              <a:rPr lang="en-US" sz="29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expressividade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Resultados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" y="4864608"/>
            <a:ext cx="10552176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de solvers e arquiteturas: LTC apresenta maior crescimento de comprimento de trajetória nas configurações avaliadas.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5897880"/>
            <a:ext cx="10515600" cy="246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Hasani et al. (2020), Figura 3, p. 6.</a:t>
            </a:r>
            <a:endParaRPr lang="en-US" sz="11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697EA62-23C3-48BB-B8CB-1324D3191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948" y="1156919"/>
            <a:ext cx="7626104" cy="33510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 de séries temporais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Resultados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95528" y="4745736"/>
            <a:ext cx="10625328" cy="9235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3: média ± desvio-padrão (n = 5). Métricas variam entre tarefas; menor erro não é comparável diretamente com maior acurácia.</a:t>
            </a:r>
            <a:endParaRPr lang="en-US" sz="18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AD2DCBD-89D7-4378-9909-AA115D644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318" y="1737360"/>
            <a:ext cx="9958642" cy="282994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humana e dinâmica física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Resultados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16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14400" y="4608576"/>
            <a:ext cx="10332720" cy="1133856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29235" indent="-229235">
              <a:lnSpc>
                <a:spcPct val="108000"/>
              </a:lnSpc>
              <a:buSzPct val="100000"/>
              <a:buChar char="•"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Tarefas de classificação sequencial e modelagem dinâmica.</a:t>
            </a:r>
            <a:endParaRPr lang="en-US" sz="1900" dirty="0"/>
          </a:p>
          <a:p>
            <a:pPr marL="229235" indent="-229235">
              <a:lnSpc>
                <a:spcPct val="108000"/>
              </a:lnSpc>
              <a:buSzPct val="100000"/>
              <a:buChar char="•"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resultados sustentam competitividade, mas não domínio universal em toda métrica.</a:t>
            </a:r>
            <a:endParaRPr lang="en-US" sz="19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72F92E1-0B49-43DB-AFB3-E9F4050D3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997" y="1252994"/>
            <a:ext cx="3653451" cy="295297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9614786-6D9F-47F0-8E04-9EAA7B84A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897" y="1512675"/>
            <a:ext cx="5214519" cy="26347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prático: adaptação temporal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Exemplo Jupyter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386"/>
                </a:solidFill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27048"/>
            <a:ext cx="48463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Experimento didático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929384"/>
            <a:ext cx="4809744" cy="1353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estímulo com taxa de relaxação fixa versus variável com a entrada.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27064" y="141732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527048"/>
            <a:ext cx="48463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observar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28232" y="1929384"/>
            <a:ext cx="4809744" cy="1353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mudança de entrada altera a velocidade com que o estado converge para o alvo.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Exemplo Jupyter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2900" b="1">
                <a:solidFill>
                  <a:srgbClr val="19232C"/>
                </a:solidFill>
                <a:latin typeface="Arial"/>
              </a:defRPr>
            </a:pPr>
            <a:r>
              <a:t>Código do exemplo: três etapas essenciais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5440680" cy="1298448"/>
          </a:xfrm>
          <a:prstGeom prst="roundRect">
            <a:avLst/>
          </a:prstGeom>
          <a:solidFill>
            <a:srgbClr val="F2F6FA"/>
          </a:solidFill>
          <a:ln>
            <a:solidFill>
              <a:srgbClr val="D0D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2779776"/>
            <a:ext cx="544068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0D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4370832"/>
            <a:ext cx="5440680" cy="1271016"/>
          </a:xfrm>
          <a:prstGeom prst="roundRect">
            <a:avLst/>
          </a:prstGeom>
          <a:solidFill>
            <a:srgbClr val="F2F6FA"/>
          </a:solidFill>
          <a:ln>
            <a:solidFill>
              <a:srgbClr val="D0D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408176"/>
            <a:ext cx="5029200" cy="256032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500" b="1">
                <a:solidFill>
                  <a:srgbClr val="235E94"/>
                </a:solidFill>
                <a:latin typeface="Arial"/>
              </a:defRPr>
            </a:pPr>
            <a:r>
              <a:t>1  Entrada e taxa de resposta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746504"/>
            <a:ext cx="5029200" cy="868680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300" b="0">
                <a:solidFill>
                  <a:srgbClr val="19232C"/>
                </a:solidFill>
                <a:latin typeface="Consolas"/>
              </a:defRPr>
            </a:pPr>
            <a:r>
              <a:t>I = np.where((t &gt;= 2) &amp; (t &lt; 6), 1.,</a:t>
            </a:r>
          </a:p>
          <a:p>
            <a:pPr>
              <a:defRPr sz="1300" b="0">
                <a:solidFill>
                  <a:srgbClr val="19232C"/>
                </a:solidFill>
                <a:latin typeface="Consolas"/>
              </a:defRPr>
            </a:pPr>
            <a:r>
              <a:t>    np.where(t &gt;= 8, 0.6, 0.))</a:t>
            </a:r>
          </a:p>
          <a:p>
            <a:pPr>
              <a:defRPr sz="1300" b="0">
                <a:solidFill>
                  <a:srgbClr val="19232C"/>
                </a:solidFill>
                <a:latin typeface="Consolas"/>
              </a:defRPr>
            </a:pPr>
            <a:r>
              <a:t>f_adaptive = 0.10 + 2.0*I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862072"/>
            <a:ext cx="5029200" cy="265176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500" b="1">
                <a:solidFill>
                  <a:srgbClr val="235E94"/>
                </a:solidFill>
                <a:latin typeface="Arial"/>
              </a:defRPr>
            </a:pPr>
            <a:r>
              <a:t>2  Equação diferencial + Euler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264408"/>
            <a:ext cx="5029200" cy="685800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500" b="0">
                <a:solidFill>
                  <a:srgbClr val="19232C"/>
                </a:solidFill>
                <a:latin typeface="Consolas"/>
              </a:defRPr>
            </a:pPr>
            <a:r>
              <a:t>dx = -(1/tau + f[k])*x[k] + f[k]*A</a:t>
            </a:r>
          </a:p>
          <a:p>
            <a:pPr>
              <a:defRPr sz="1500" b="0">
                <a:solidFill>
                  <a:srgbClr val="19232C"/>
                </a:solidFill>
                <a:latin typeface="Consolas"/>
              </a:defRPr>
            </a:pPr>
            <a:r>
              <a:t>x[k+1] = x[k] + dt*dx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453128"/>
            <a:ext cx="5029200" cy="265176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500" b="1">
                <a:solidFill>
                  <a:srgbClr val="235E94"/>
                </a:solidFill>
                <a:latin typeface="Arial"/>
              </a:defRPr>
            </a:pPr>
            <a:r>
              <a:t>3  Constante de tempo efetiva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882896"/>
            <a:ext cx="5029200" cy="502920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500" b="0">
                <a:solidFill>
                  <a:srgbClr val="19232C"/>
                </a:solidFill>
                <a:latin typeface="Consolas"/>
              </a:defRPr>
            </a:pPr>
            <a:r>
              <a:t>tau_eff = 1/(1/tau + f_adaptive)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353312"/>
            <a:ext cx="4983480" cy="420624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2000" b="1">
                <a:solidFill>
                  <a:srgbClr val="235E94"/>
                </a:solidFill>
                <a:latin typeface="Arial"/>
              </a:defRPr>
            </a:pPr>
            <a:r>
              <a:t>O que cada trecho demonstra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901952"/>
            <a:ext cx="4956048" cy="896112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800" b="0">
                <a:solidFill>
                  <a:srgbClr val="19232C"/>
                </a:solidFill>
                <a:latin typeface="Arial"/>
              </a:defRPr>
            </a:pPr>
            <a:r>
              <a:t>① A entrada I(t) muda no tempo. A função f adapta a taxa de resposta do neurônio.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72384"/>
            <a:ext cx="4956048" cy="941832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800" b="0">
                <a:solidFill>
                  <a:srgbClr val="19232C"/>
                </a:solidFill>
                <a:latin typeface="Arial"/>
              </a:defRPr>
            </a:pPr>
            <a:r>
              <a:t>② A derivada dx/dt define a dinâmica. Euler aproxima o próximo estado com passos dt.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315968"/>
            <a:ext cx="4956048" cy="905256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800" b="0">
                <a:solidFill>
                  <a:srgbClr val="19232C"/>
                </a:solidFill>
                <a:latin typeface="Arial"/>
              </a:defRPr>
            </a:pPr>
            <a:r>
              <a:t>③ Quando f aumenta, τ efetiva diminui. A resposta torna-se mais rápida.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5678424"/>
            <a:ext cx="4928616" cy="448056"/>
          </a:xfrm>
          <a:prstGeom prst="rect">
            <a:avLst/>
          </a:prstGeom>
          <a:noFill/>
        </p:spPr>
        <p:txBody>
          <a:bodyPr wrap="square" lIns="27432" tIns="27432" bIns="0">
            <a:spAutoFit/>
          </a:bodyPr>
          <a:lstStyle/>
          <a:p>
            <a:pPr>
              <a:defRPr sz="1200" b="0">
                <a:solidFill>
                  <a:srgbClr val="5E6A79"/>
                </a:solidFill>
                <a:latin typeface="Arial"/>
              </a:defRPr>
            </a:pPr>
            <a:r>
              <a:t>Demonstração escalar didática; sem pesos treinados ou solver fused.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11111"/>
                </a:solidFill>
                <a:latin typeface="Arial"/>
              </a:rPr>
              <a:t>Curvas geradas pelo código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0972800" cy="15240"/>
          </a:xfrm>
          <a:prstGeom prst="rect">
            <a:avLst/>
          </a:prstGeom>
          <a:solidFill>
            <a:srgbClr val="2366A3"/>
          </a:solidFill>
          <a:ln>
            <a:solidFill>
              <a:srgbClr val="236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tc_curvas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40" y="1320320"/>
            <a:ext cx="6134763" cy="46724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5346" y="1320320"/>
            <a:ext cx="4839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2366A3"/>
                </a:solidFill>
                <a:latin typeface="Arial"/>
              </a:rPr>
              <a:t>A entrada altera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f_adaptive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, o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estado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responde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em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velocidades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diferentes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e a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constante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de tempo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efetiva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varia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ao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longo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do tempo.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386"/>
                </a:solidFill>
                <a:latin typeface="Arial"/>
              </a:rPr>
              <a:t>TP558  |  Exemplo Jupyter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386"/>
                </a:solidFill>
                <a:latin typeface="Arial"/>
              </a:rPr>
              <a:t>19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AC1B2252-9A21-4D3C-AA27-CD988FCD022F}"/>
              </a:ext>
            </a:extLst>
          </p:cNvPr>
          <p:cNvSpPr txBox="1"/>
          <p:nvPr/>
        </p:nvSpPr>
        <p:spPr>
          <a:xfrm>
            <a:off x="6845346" y="5769943"/>
            <a:ext cx="49421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2366A3"/>
                </a:solidFill>
                <a:latin typeface="Arial"/>
              </a:rPr>
              <a:t>Leitura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principal: a LTC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acelera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ou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desacelera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sua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dinâmica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de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acordo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com o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contexto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 de entrada.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EF7CD880-2A66-42CD-8A33-7299E403739D}"/>
              </a:ext>
            </a:extLst>
          </p:cNvPr>
          <p:cNvSpPr/>
          <p:nvPr/>
        </p:nvSpPr>
        <p:spPr>
          <a:xfrm>
            <a:off x="6334298" y="2317975"/>
            <a:ext cx="2768138" cy="1446361"/>
          </a:xfrm>
          <a:prstGeom prst="roundRect">
            <a:avLst/>
          </a:prstGeom>
          <a:solidFill>
            <a:srgbClr val="EEF3F8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2E3C968C-9E65-40B3-AAA9-7AC9301535AD}"/>
              </a:ext>
            </a:extLst>
          </p:cNvPr>
          <p:cNvSpPr txBox="1"/>
          <p:nvPr/>
        </p:nvSpPr>
        <p:spPr>
          <a:xfrm>
            <a:off x="6620904" y="2371865"/>
            <a:ext cx="24815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2366A3"/>
                </a:solidFill>
                <a:latin typeface="Arial"/>
              </a:rPr>
              <a:t>1. Entrada I(t)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20F9DA84-7989-4C13-B80A-46C488A3583E}"/>
              </a:ext>
            </a:extLst>
          </p:cNvPr>
          <p:cNvSpPr txBox="1"/>
          <p:nvPr/>
        </p:nvSpPr>
        <p:spPr>
          <a:xfrm>
            <a:off x="6620904" y="2634296"/>
            <a:ext cx="235019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111111"/>
                </a:solidFill>
                <a:latin typeface="Arial"/>
              </a:rPr>
              <a:t>Há</a:t>
            </a:r>
            <a:r>
              <a:rPr sz="1400" dirty="0">
                <a:solidFill>
                  <a:srgbClr val="111111"/>
                </a:solidFill>
                <a:latin typeface="Arial"/>
              </a:rPr>
              <a:t> um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pulso</a:t>
            </a:r>
            <a:r>
              <a:rPr sz="1400" dirty="0">
                <a:solidFill>
                  <a:srgbClr val="111111"/>
                </a:solidFill>
                <a:latin typeface="Arial"/>
              </a:rPr>
              <a:t> forte entre t=2 e 6 e um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pulso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moderado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após</a:t>
            </a:r>
            <a:r>
              <a:rPr sz="1400" dirty="0">
                <a:solidFill>
                  <a:srgbClr val="111111"/>
                </a:solidFill>
                <a:latin typeface="Arial"/>
              </a:rPr>
              <a:t> t=8.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Esses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trechos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mudam</a:t>
            </a:r>
            <a:r>
              <a:rPr sz="1400" dirty="0">
                <a:solidFill>
                  <a:srgbClr val="111111"/>
                </a:solidFill>
                <a:latin typeface="Arial"/>
              </a:rPr>
              <a:t> a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dinâmica</a:t>
            </a:r>
            <a:r>
              <a:rPr sz="1400" dirty="0">
                <a:solidFill>
                  <a:srgbClr val="111111"/>
                </a:solidFill>
                <a:latin typeface="Arial"/>
              </a:rPr>
              <a:t> do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sistema</a:t>
            </a:r>
            <a:r>
              <a:rPr sz="1400" dirty="0">
                <a:solidFill>
                  <a:srgbClr val="111111"/>
                </a:solidFill>
                <a:latin typeface="Arial"/>
              </a:rPr>
              <a:t>.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8B89767F-4221-47A5-842B-50477F16BD71}"/>
              </a:ext>
            </a:extLst>
          </p:cNvPr>
          <p:cNvSpPr/>
          <p:nvPr/>
        </p:nvSpPr>
        <p:spPr>
          <a:xfrm>
            <a:off x="9220200" y="2309519"/>
            <a:ext cx="2971800" cy="1417320"/>
          </a:xfrm>
          <a:prstGeom prst="roundRect">
            <a:avLst/>
          </a:prstGeom>
          <a:solidFill>
            <a:srgbClr val="EEF3F8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C1E40761-06C0-4F26-889C-5D3F2F4DC41E}"/>
              </a:ext>
            </a:extLst>
          </p:cNvPr>
          <p:cNvSpPr txBox="1"/>
          <p:nvPr/>
        </p:nvSpPr>
        <p:spPr>
          <a:xfrm>
            <a:off x="9391966" y="2349467"/>
            <a:ext cx="271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2366A3"/>
                </a:solidFill>
                <a:latin typeface="Arial"/>
              </a:rPr>
              <a:t>2. Estado x(t)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BA6AC6BA-7BBD-4B06-BC4F-4233A19FDD9D}"/>
              </a:ext>
            </a:extLst>
          </p:cNvPr>
          <p:cNvSpPr txBox="1"/>
          <p:nvPr/>
        </p:nvSpPr>
        <p:spPr>
          <a:xfrm>
            <a:off x="9391966" y="2604160"/>
            <a:ext cx="27178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11111"/>
                </a:solidFill>
                <a:latin typeface="Arial"/>
              </a:rPr>
              <a:t>A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curva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adaptativa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sobe</a:t>
            </a:r>
            <a:r>
              <a:rPr sz="1400" dirty="0">
                <a:solidFill>
                  <a:srgbClr val="111111"/>
                </a:solidFill>
                <a:latin typeface="Arial"/>
              </a:rPr>
              <a:t> e se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ajusta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mais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rápido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quando</a:t>
            </a:r>
            <a:r>
              <a:rPr sz="1400" dirty="0">
                <a:solidFill>
                  <a:srgbClr val="111111"/>
                </a:solidFill>
                <a:latin typeface="Arial"/>
              </a:rPr>
              <a:t> a entrada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cresce</a:t>
            </a:r>
            <a:r>
              <a:rPr sz="1400" dirty="0">
                <a:solidFill>
                  <a:srgbClr val="111111"/>
                </a:solidFill>
                <a:latin typeface="Arial"/>
              </a:rPr>
              <a:t>. A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curva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fixa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reage</a:t>
            </a:r>
            <a:r>
              <a:rPr sz="1400" dirty="0">
                <a:solidFill>
                  <a:srgbClr val="111111"/>
                </a:solidFill>
                <a:latin typeface="Arial"/>
              </a:rPr>
              <a:t> de forma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mais</a:t>
            </a:r>
            <a:r>
              <a:rPr sz="1400" dirty="0">
                <a:solidFill>
                  <a:srgbClr val="111111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111111"/>
                </a:solidFill>
                <a:latin typeface="Arial"/>
              </a:rPr>
              <a:t>lenta</a:t>
            </a:r>
            <a:r>
              <a:rPr sz="1400" dirty="0">
                <a:solidFill>
                  <a:srgbClr val="111111"/>
                </a:solidFill>
                <a:latin typeface="Arial"/>
              </a:rPr>
              <a:t> e suave.</a:t>
            </a:r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1DA29FA9-77B8-471A-8EA3-69DBF66EE01E}"/>
              </a:ext>
            </a:extLst>
          </p:cNvPr>
          <p:cNvSpPr/>
          <p:nvPr/>
        </p:nvSpPr>
        <p:spPr>
          <a:xfrm>
            <a:off x="7616535" y="3914368"/>
            <a:ext cx="3090257" cy="1721473"/>
          </a:xfrm>
          <a:prstGeom prst="roundRect">
            <a:avLst/>
          </a:prstGeom>
          <a:solidFill>
            <a:srgbClr val="EEF3F8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83737CDB-FD0C-4CC8-8751-D21321C2BE7A}"/>
              </a:ext>
            </a:extLst>
          </p:cNvPr>
          <p:cNvSpPr txBox="1"/>
          <p:nvPr/>
        </p:nvSpPr>
        <p:spPr>
          <a:xfrm>
            <a:off x="7743536" y="3956815"/>
            <a:ext cx="2826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2366A3"/>
                </a:solidFill>
                <a:latin typeface="Arial"/>
              </a:rPr>
              <a:t>3. τ </a:t>
            </a:r>
            <a:r>
              <a:rPr sz="1600" b="1" dirty="0" err="1">
                <a:solidFill>
                  <a:srgbClr val="2366A3"/>
                </a:solidFill>
                <a:latin typeface="Arial"/>
              </a:rPr>
              <a:t>efetivo</a:t>
            </a:r>
            <a:r>
              <a:rPr sz="1600" b="1" dirty="0">
                <a:solidFill>
                  <a:srgbClr val="2366A3"/>
                </a:solidFill>
                <a:latin typeface="Arial"/>
              </a:rPr>
              <a:t>(t)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D109A738-C7BA-40A1-A1FA-F8A604C2BB58}"/>
              </a:ext>
            </a:extLst>
          </p:cNvPr>
          <p:cNvSpPr txBox="1"/>
          <p:nvPr/>
        </p:nvSpPr>
        <p:spPr>
          <a:xfrm>
            <a:off x="7743536" y="4295369"/>
            <a:ext cx="282613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111111"/>
                </a:solidFill>
                <a:latin typeface="Arial"/>
              </a:rPr>
              <a:t>No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caso</a:t>
            </a:r>
            <a:r>
              <a:rPr sz="1500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adaptativo</a:t>
            </a:r>
            <a:r>
              <a:rPr sz="1500" dirty="0">
                <a:solidFill>
                  <a:srgbClr val="111111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τ_eff</a:t>
            </a:r>
            <a:r>
              <a:rPr sz="1500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varia</a:t>
            </a:r>
            <a:r>
              <a:rPr sz="1500" dirty="0">
                <a:solidFill>
                  <a:srgbClr val="111111"/>
                </a:solidFill>
                <a:latin typeface="Arial"/>
              </a:rPr>
              <a:t> de ~1.67 (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sem</a:t>
            </a:r>
            <a:r>
              <a:rPr sz="1500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estímulo</a:t>
            </a:r>
            <a:r>
              <a:rPr sz="1500" dirty="0">
                <a:solidFill>
                  <a:srgbClr val="111111"/>
                </a:solidFill>
                <a:latin typeface="Arial"/>
              </a:rPr>
              <a:t>)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até</a:t>
            </a:r>
            <a:r>
              <a:rPr sz="1500" dirty="0">
                <a:solidFill>
                  <a:srgbClr val="111111"/>
                </a:solidFill>
                <a:latin typeface="Arial"/>
              </a:rPr>
              <a:t> ~0.38 (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estímulo</a:t>
            </a:r>
            <a:r>
              <a:rPr sz="1500" dirty="0">
                <a:solidFill>
                  <a:srgbClr val="111111"/>
                </a:solidFill>
                <a:latin typeface="Arial"/>
              </a:rPr>
              <a:t> forte).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Quanto</a:t>
            </a:r>
            <a:r>
              <a:rPr sz="1500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menor</a:t>
            </a:r>
            <a:r>
              <a:rPr sz="1500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τ_eff</a:t>
            </a:r>
            <a:r>
              <a:rPr sz="1500" dirty="0">
                <a:solidFill>
                  <a:srgbClr val="111111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mais</a:t>
            </a:r>
            <a:r>
              <a:rPr sz="1500" dirty="0">
                <a:solidFill>
                  <a:srgbClr val="111111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rápida</a:t>
            </a:r>
            <a:r>
              <a:rPr sz="1500" dirty="0">
                <a:solidFill>
                  <a:srgbClr val="111111"/>
                </a:solidFill>
                <a:latin typeface="Arial"/>
              </a:rPr>
              <a:t> a </a:t>
            </a:r>
            <a:r>
              <a:rPr sz="1500" dirty="0" err="1">
                <a:solidFill>
                  <a:srgbClr val="111111"/>
                </a:solidFill>
                <a:latin typeface="Arial"/>
              </a:rPr>
              <a:t>resposta</a:t>
            </a:r>
            <a:r>
              <a:rPr sz="1500" dirty="0">
                <a:solidFill>
                  <a:srgbClr val="11111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crítica: pontos fortes e limitações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Análise crítica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19</a:t>
            </a:r>
          </a:p>
        </p:txBody>
      </p:sp>
      <p:sp>
        <p:nvSpPr>
          <p:cNvPr id="6" name="Shape 4"/>
          <p:cNvSpPr/>
          <p:nvPr/>
        </p:nvSpPr>
        <p:spPr>
          <a:xfrm>
            <a:off x="658368" y="1389888"/>
            <a:ext cx="5230368" cy="3246120"/>
          </a:xfrm>
          <a:prstGeom prst="roundRect">
            <a:avLst>
              <a:gd name="adj" fmla="val 3380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499616"/>
            <a:ext cx="486460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fortes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1901952"/>
            <a:ext cx="4828032" cy="2633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Formulação dinâmica interpretável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Resultados teóricos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Comparações com baselines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Código disponibilizado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72784" y="1389888"/>
            <a:ext cx="5230368" cy="3246120"/>
          </a:xfrm>
          <a:prstGeom prst="roundRect">
            <a:avLst>
              <a:gd name="adj" fmla="val 3380"/>
            </a:avLst>
          </a:prstGeom>
          <a:solidFill>
            <a:srgbClr val="F0F6FB"/>
          </a:solidFill>
          <a:ln w="12700">
            <a:solidFill>
              <a:srgbClr val="D9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499616"/>
            <a:ext cx="486460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3952" y="1901952"/>
            <a:ext cx="4828032" cy="2633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Integração numérica gera custo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Desempenho depende de solver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Benchmarks e hiperparâmetros específicos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Complexidade para adoção operacional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 e possibilidades de melhoria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Análise crítica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20</a:t>
            </a:r>
          </a:p>
        </p:txBody>
      </p:sp>
      <p:sp>
        <p:nvSpPr>
          <p:cNvPr id="6" name="Text 4"/>
          <p:cNvSpPr/>
          <p:nvPr/>
        </p:nvSpPr>
        <p:spPr>
          <a:xfrm>
            <a:off x="713232" y="1389888"/>
            <a:ext cx="10789920" cy="45262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Sinais de sensores, processos industriais e sequências temporais não estacionárias.</a:t>
            </a:r>
            <a:endParaRPr lang="en-US" sz="22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sistemático de acurácia × latência × consumo energético em hardware real.</a:t>
            </a:r>
            <a:endParaRPr lang="en-US" sz="22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de robustez a ruído, ausência de amostras e mudanças de regime.</a:t>
            </a:r>
            <a:endParaRPr lang="en-US" sz="2200" dirty="0"/>
          </a:p>
          <a:p>
            <a:pPr marL="265430" indent="-265430">
              <a:lnSpc>
                <a:spcPct val="108000"/>
              </a:lnSpc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justa com baselines modernos sob orçamento computacional fixo.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Conclusões: o que o artigo demonstra?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Conclusão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21</a:t>
            </a:r>
          </a:p>
        </p:txBody>
      </p:sp>
      <p:sp>
        <p:nvSpPr>
          <p:cNvPr id="6" name="Text 4"/>
          <p:cNvSpPr/>
          <p:nvPr/>
        </p:nvSpPr>
        <p:spPr>
          <a:xfrm>
            <a:off x="786384" y="1353312"/>
            <a:ext cx="10671048" cy="4416552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53365" indent="-253365">
              <a:lnSpc>
                <a:spcPct val="108000"/>
              </a:lnSpc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LTC modela estados ocultos em tempo contínuo por meio de EDOs.</a:t>
            </a:r>
            <a:endParaRPr lang="en-US" sz="2100" dirty="0"/>
          </a:p>
          <a:p>
            <a:pPr marL="253365" indent="-253365">
              <a:lnSpc>
                <a:spcPct val="108000"/>
              </a:lnSpc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constante de tempo efetiva depende da dinâmica aprendida e da entrada.</a:t>
            </a:r>
            <a:endParaRPr lang="en-US" sz="2100" dirty="0"/>
          </a:p>
          <a:p>
            <a:pPr marL="253365" indent="-253365">
              <a:lnSpc>
                <a:spcPct val="108000"/>
              </a:lnSpc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autores apresentam propriedades matemáticas de estabilidade e expressividade.</a:t>
            </a:r>
            <a:endParaRPr lang="en-US" sz="2100" dirty="0"/>
          </a:p>
          <a:p>
            <a:pPr marL="253365" indent="-253365">
              <a:lnSpc>
                <a:spcPct val="108000"/>
              </a:lnSpc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experimentos mostram resultados competitivos em tarefas sequenciais.</a:t>
            </a:r>
            <a:endParaRPr lang="en-US" sz="2100" dirty="0"/>
          </a:p>
          <a:p>
            <a:pPr marL="253365" indent="-253365">
              <a:lnSpc>
                <a:spcPct val="108000"/>
              </a:lnSpc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escolha do solver e do cenário influencia desempenho e custo.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65960"/>
            <a:ext cx="10332720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5800" dirty="0"/>
          </a:p>
        </p:txBody>
      </p:sp>
      <p:pic>
        <p:nvPicPr>
          <p:cNvPr id="3" name="Image 0" descr="/mnt/data/ltc_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128" y="5733288"/>
            <a:ext cx="904425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5934456"/>
            <a:ext cx="60807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Time-constant Networks  |  TP558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obrigatório — Google Forms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Quiz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23</a:t>
            </a:r>
          </a:p>
        </p:txBody>
      </p:sp>
      <p:sp>
        <p:nvSpPr>
          <p:cNvPr id="6" name="Text 4"/>
          <p:cNvSpPr/>
          <p:nvPr/>
        </p:nvSpPr>
        <p:spPr>
          <a:xfrm>
            <a:off x="1216984" y="2974296"/>
            <a:ext cx="4676740" cy="1256873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53365" indent="-253365">
              <a:lnSpc>
                <a:spcPct val="108000"/>
              </a:lnSpc>
              <a:buSzPct val="100000"/>
              <a:buChar char="•"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  <a:hlinkClick r:id="rId3"/>
              </a:rPr>
              <a:t>LINK DO QUIZ 4° SEMINÁRIO</a:t>
            </a:r>
            <a:endParaRPr lang="en-US" sz="3600" dirty="0">
              <a:solidFill>
                <a:srgbClr val="111111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08000"/>
              </a:lnSpc>
              <a:buSzPct val="100000"/>
            </a:pPr>
            <a:endParaRPr lang="en-US" sz="36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8FFF182-B023-4508-8093-0DF3EBC9F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1864545"/>
            <a:ext cx="3823855" cy="38238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972800" cy="0"/>
          </a:xfrm>
          <a:prstGeom prst="line">
            <a:avLst/>
          </a:prstGeom>
          <a:noFill/>
          <a:ln w="25400">
            <a:solidFill>
              <a:srgbClr val="236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12648" y="6501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3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TP558  |  Referências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645566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24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1444752"/>
            <a:ext cx="10561320" cy="41148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marL="205105" indent="-205105">
              <a:lnSpc>
                <a:spcPct val="108000"/>
              </a:lnSpc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HASANI, R. et al. Liquid Time-constant Networks. arXiv:2006.04439, 2020.</a:t>
            </a:r>
            <a:endParaRPr lang="en-US" sz="1700" dirty="0"/>
          </a:p>
          <a:p>
            <a:pPr marL="205105" indent="-205105">
              <a:lnSpc>
                <a:spcPct val="108000"/>
              </a:lnSpc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HOCHREITER, S.; SCHMIDHUBER, J. Long Short-Term Memory. Neural Computation, 1997.</a:t>
            </a:r>
            <a:endParaRPr lang="en-US" sz="1700" dirty="0"/>
          </a:p>
          <a:p>
            <a:pPr marL="205105" indent="-205105">
              <a:lnSpc>
                <a:spcPct val="108000"/>
              </a:lnSpc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CHEN, R. T. Q. et al. Neural Ordinary Differential Equations. NeurIPS, 2018.</a:t>
            </a:r>
            <a:endParaRPr lang="en-US" sz="1700" dirty="0"/>
          </a:p>
          <a:p>
            <a:pPr marL="205105" indent="-205105">
              <a:lnSpc>
                <a:spcPct val="108000"/>
              </a:lnSpc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FUNAHASHI, K.; NAKAMURA, Y. Approximation of dynamical systems by continuous time recurrent neural networks. Neural Networks, 1993.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1723</TotalTime>
  <Words>2929</Words>
  <Application>Microsoft Office PowerPoint</Application>
  <PresentationFormat>Widescreen</PresentationFormat>
  <Paragraphs>261</Paragraphs>
  <Slides>26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Liquid Time-constant Networks | TP558</dc:title>
  <dc:subject>Liquid Time-constant Networks</dc:subject>
  <dc:creator>Seminário TP558</dc:creator>
  <cp:lastModifiedBy>João Roberto Teixeira dos Santos</cp:lastModifiedBy>
  <cp:revision>9</cp:revision>
  <dcterms:created xsi:type="dcterms:W3CDTF">2026-10-09T14:33:32Z</dcterms:created>
  <dcterms:modified xsi:type="dcterms:W3CDTF">2026-10-10T19:32:20Z</dcterms:modified>
</cp:coreProperties>
</file>